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81" r:id="rId6"/>
    <p:sldId id="260" r:id="rId7"/>
    <p:sldId id="261" r:id="rId8"/>
    <p:sldId id="282" r:id="rId9"/>
    <p:sldId id="283" r:id="rId10"/>
    <p:sldId id="262" r:id="rId11"/>
    <p:sldId id="263" r:id="rId12"/>
    <p:sldId id="284" r:id="rId13"/>
    <p:sldId id="285" r:id="rId14"/>
    <p:sldId id="286" r:id="rId15"/>
    <p:sldId id="287" r:id="rId16"/>
    <p:sldId id="288" r:id="rId17"/>
    <p:sldId id="264" r:id="rId18"/>
    <p:sldId id="289" r:id="rId19"/>
    <p:sldId id="265" r:id="rId20"/>
    <p:sldId id="290" r:id="rId21"/>
    <p:sldId id="266" r:id="rId22"/>
    <p:sldId id="267" r:id="rId23"/>
    <p:sldId id="291" r:id="rId24"/>
    <p:sldId id="292" r:id="rId25"/>
    <p:sldId id="277" r:id="rId2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66D8"/>
    <a:srgbClr val="32CB58"/>
    <a:srgbClr val="149CCA"/>
    <a:srgbClr val="F8B70C"/>
    <a:srgbClr val="D5F4DD"/>
    <a:srgbClr val="FDF0CE"/>
    <a:srgbClr val="CDEDF8"/>
    <a:srgbClr val="FDD5C9"/>
    <a:srgbClr val="E03E0D"/>
    <a:srgbClr val="32CA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91803" autoAdjust="0"/>
  </p:normalViewPr>
  <p:slideViewPr>
    <p:cSldViewPr snapToGrid="0">
      <p:cViewPr varScale="1">
        <p:scale>
          <a:sx n="103" d="100"/>
          <a:sy n="103" d="100"/>
        </p:scale>
        <p:origin x="-486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234554-A553-41EE-A95F-374B7BB8D315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62463-63C1-4011-958C-1E568B162A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111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62463-63C1-4011-958C-1E568B162AA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695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62463-63C1-4011-958C-1E568B162AA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841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橢圓 6"/>
          <p:cNvSpPr/>
          <p:nvPr userDrawn="1"/>
        </p:nvSpPr>
        <p:spPr>
          <a:xfrm>
            <a:off x="3988526" y="1321526"/>
            <a:ext cx="4214949" cy="4214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 userDrawn="1"/>
        </p:nvSpPr>
        <p:spPr>
          <a:xfrm>
            <a:off x="4180114" y="1513114"/>
            <a:ext cx="3831772" cy="38317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5875427" y="3429000"/>
            <a:ext cx="441146" cy="94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>
              <a:solidFill>
                <a:srgbClr val="F8B70C"/>
              </a:solidFill>
              <a:effectLst/>
            </a:endParaRP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5875427" y="3429000"/>
            <a:ext cx="441146" cy="94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>
              <a:solidFill>
                <a:srgbClr val="F8B70C"/>
              </a:solidFill>
              <a:effectLst/>
            </a:endParaRPr>
          </a:p>
        </p:txBody>
      </p:sp>
      <p:sp>
        <p:nvSpPr>
          <p:cNvPr id="11" name="橢圓 10"/>
          <p:cNvSpPr/>
          <p:nvPr userDrawn="1"/>
        </p:nvSpPr>
        <p:spPr>
          <a:xfrm>
            <a:off x="-1619998" y="-4286998"/>
            <a:ext cx="15431996" cy="15431996"/>
          </a:xfrm>
          <a:prstGeom prst="ellipse">
            <a:avLst/>
          </a:prstGeom>
          <a:solidFill>
            <a:srgbClr val="F8B70C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3939150" y="-2164275"/>
            <a:ext cx="11186550" cy="1118655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FAD3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F5BA1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甜甜圈 14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rgbClr val="F8B70C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/>
          </a:p>
        </p:txBody>
      </p:sp>
      <p:sp>
        <p:nvSpPr>
          <p:cNvPr id="16" name="文字方塊 15"/>
          <p:cNvSpPr txBox="1"/>
          <p:nvPr userDrawn="1"/>
        </p:nvSpPr>
        <p:spPr>
          <a:xfrm>
            <a:off x="1773342" y="1925227"/>
            <a:ext cx="864531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altLang="zh-TW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zh-TW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</a:t>
            </a:r>
            <a:r>
              <a:rPr lang="zh-TW" altLang="en-US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程式碼生成器</a:t>
            </a:r>
          </a:p>
        </p:txBody>
      </p:sp>
      <p:sp>
        <p:nvSpPr>
          <p:cNvPr id="17" name="文字方塊 16"/>
          <p:cNvSpPr txBox="1"/>
          <p:nvPr userDrawn="1"/>
        </p:nvSpPr>
        <p:spPr>
          <a:xfrm>
            <a:off x="393188" y="4796472"/>
            <a:ext cx="15049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dirty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en-US" altLang="zh-TW" dirty="0">
              <a:solidFill>
                <a:schemeClr val="bg1">
                  <a:alpha val="20000"/>
                </a:schemeClr>
              </a:solidFill>
              <a:sym typeface="Webdings" panose="05030102010509060703" pitchFamily="18" charset="2"/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18" name="文字方塊 17"/>
          <p:cNvSpPr txBox="1"/>
          <p:nvPr userDrawn="1"/>
        </p:nvSpPr>
        <p:spPr>
          <a:xfrm>
            <a:off x="2311086" y="6261047"/>
            <a:ext cx="15049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dirty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en-US" altLang="zh-TW" dirty="0">
              <a:solidFill>
                <a:schemeClr val="bg1">
                  <a:alpha val="20000"/>
                </a:schemeClr>
              </a:solidFill>
              <a:sym typeface="Webdings" panose="05030102010509060703" pitchFamily="18" charset="2"/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>
              <a:solidFill>
                <a:schemeClr val="bg1">
                  <a:alpha val="2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20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xit" presetSubtype="32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3" presetClass="exit" presetSubtype="32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1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path" presetSubtype="0" fill="hold" grpId="0" nodeType="withEffect">
                                  <p:stCondLst>
                                    <p:cond delay="1150"/>
                                  </p:stCondLst>
                                  <p:iterate type="lt">
                                    <p:tmPct val="200"/>
                                  </p:iterate>
                                  <p:childTnLst>
                                    <p:animMotion origin="layout" path="M -0.00039 0.0007 C -0.00039 -0.20601 0.0737 -0.37407 0.1651 -0.37407 C 0.25625 -0.37407 0.33047 -0.20601 0.33047 0.0007 C 0.33047 0.20764 0.25625 0.37547 0.1651 0.37547 C 0.0737 0.37547 -0.00039 0.20764 -0.00039 0.0007 Z " pathEditMode="relative" rAng="16200000" ptsTypes="AAAAA">
                                      <p:cBhvr>
                                        <p:cTn id="28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36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path" presetSubtype="0" fill="hold" grpId="0" nodeType="withEffect">
                                  <p:stCondLst>
                                    <p:cond delay="1150"/>
                                  </p:stCondLst>
                                  <p:iterate type="lt">
                                    <p:tmPct val="200"/>
                                  </p:iterate>
                                  <p:childTnLst>
                                    <p:animMotion origin="layout" path="M -0.00052 0.00093 C -0.00052 -0.20578 -0.07018 -0.37384 -0.15612 -0.37384 C -0.24193 -0.37384 -0.31159 -0.20578 -0.31159 0.00093 C -0.31159 0.20787 -0.24193 0.3757 -0.15612 0.3757 C -0.07018 0.3757 -0.00052 0.20787 -0.00052 0.00093 Z " pathEditMode="relative" rAng="16200000" ptsTypes="AAAAA">
                                      <p:cBhvr>
                                        <p:cTn id="30" dur="125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56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2" nodeType="withEffect">
                                  <p:stCondLst>
                                    <p:cond delay="24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2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2" nodeType="withEffect">
                                  <p:stCondLst>
                                    <p:cond delay="24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5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50"/>
                            </p:stCondLst>
                            <p:childTnLst>
                              <p:par>
                                <p:cTn id="4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250"/>
                            </p:stCondLst>
                            <p:childTnLst>
                              <p:par>
                                <p:cTn id="4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650"/>
                            </p:stCondLst>
                            <p:childTnLst>
                              <p:par>
                                <p:cTn id="5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5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35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/>
      <p:bldP spid="9" grpId="1"/>
      <p:bldP spid="9" grpId="2"/>
      <p:bldP spid="10" grpId="0"/>
      <p:bldP spid="10" grpId="1"/>
      <p:bldP spid="10" grpId="2"/>
      <p:bldP spid="11" grpId="0" animBg="1"/>
      <p:bldP spid="15" grpId="0" animBg="1"/>
      <p:bldP spid="16" grpId="0"/>
      <p:bldP spid="17" grpId="0"/>
      <p:bldP spid="18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/>
          <p:cNvGrpSpPr/>
          <p:nvPr userDrawn="1"/>
        </p:nvGrpSpPr>
        <p:grpSpPr>
          <a:xfrm>
            <a:off x="-6444344" y="-3991430"/>
            <a:ext cx="25080688" cy="7982860"/>
            <a:chOff x="3988526" y="1321526"/>
            <a:chExt cx="4214949" cy="4214949"/>
          </a:xfrm>
        </p:grpSpPr>
        <p:sp>
          <p:nvSpPr>
            <p:cNvPr id="7" name="橢圓 6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矩形 9"/>
          <p:cNvSpPr/>
          <p:nvPr userDrawn="1"/>
        </p:nvSpPr>
        <p:spPr>
          <a:xfrm>
            <a:off x="-3410307" y="5119062"/>
            <a:ext cx="2441694" cy="3477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計畫緣起</a:t>
            </a:r>
            <a:endParaRPr lang="en-US" altLang="zh-TW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TW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產業概況</a:t>
            </a:r>
            <a:endParaRPr lang="en-US" altLang="zh-TW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TW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問卷分析</a:t>
            </a:r>
            <a:endParaRPr lang="en-US" altLang="zh-TW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TW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行銷計畫</a:t>
            </a:r>
            <a:endParaRPr lang="en-US" altLang="zh-TW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TW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計畫總結</a:t>
            </a:r>
            <a:endParaRPr lang="en-US" altLang="zh-TW" sz="4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文字方塊 12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5" name="群組 24"/>
          <p:cNvGrpSpPr/>
          <p:nvPr userDrawn="1"/>
        </p:nvGrpSpPr>
        <p:grpSpPr>
          <a:xfrm>
            <a:off x="407988" y="2025800"/>
            <a:ext cx="2016000" cy="4248000"/>
            <a:chOff x="407988" y="2025800"/>
            <a:chExt cx="2016000" cy="4248000"/>
          </a:xfrm>
        </p:grpSpPr>
        <p:grpSp>
          <p:nvGrpSpPr>
            <p:cNvPr id="23" name="群組 22"/>
            <p:cNvGrpSpPr/>
            <p:nvPr userDrawn="1"/>
          </p:nvGrpSpPr>
          <p:grpSpPr>
            <a:xfrm>
              <a:off x="407988" y="2025800"/>
              <a:ext cx="2016000" cy="4248000"/>
              <a:chOff x="407988" y="2025800"/>
              <a:chExt cx="2016000" cy="4248000"/>
            </a:xfrm>
          </p:grpSpPr>
          <p:sp>
            <p:nvSpPr>
              <p:cNvPr id="11" name="圓角矩形 10"/>
              <p:cNvSpPr/>
              <p:nvPr userDrawn="1"/>
            </p:nvSpPr>
            <p:spPr>
              <a:xfrm>
                <a:off x="407988" y="2025800"/>
                <a:ext cx="2016000" cy="4248000"/>
              </a:xfrm>
              <a:prstGeom prst="roundRect">
                <a:avLst>
                  <a:gd name="adj" fmla="val 532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304800" dist="101600" dir="8100000" algn="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6" name="群組 15"/>
              <p:cNvGrpSpPr/>
              <p:nvPr userDrawn="1"/>
            </p:nvGrpSpPr>
            <p:grpSpPr>
              <a:xfrm>
                <a:off x="737388" y="2342810"/>
                <a:ext cx="1357200" cy="1357200"/>
                <a:chOff x="3037945" y="3994075"/>
                <a:chExt cx="1357200" cy="1357200"/>
              </a:xfrm>
            </p:grpSpPr>
            <p:sp>
              <p:nvSpPr>
                <p:cNvPr id="14" name="橢圓 13"/>
                <p:cNvSpPr/>
                <p:nvPr userDrawn="1"/>
              </p:nvSpPr>
              <p:spPr>
                <a:xfrm>
                  <a:off x="3037945" y="3994075"/>
                  <a:ext cx="1357200" cy="13572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" name="橢圓 14"/>
                <p:cNvSpPr/>
                <p:nvPr userDrawn="1"/>
              </p:nvSpPr>
              <p:spPr>
                <a:xfrm>
                  <a:off x="3142345" y="4098475"/>
                  <a:ext cx="1148400" cy="11484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18" name="直線接點 17"/>
              <p:cNvCxnSpPr/>
              <p:nvPr userDrawn="1"/>
            </p:nvCxnSpPr>
            <p:spPr>
              <a:xfrm>
                <a:off x="841788" y="3848100"/>
                <a:ext cx="1148400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字方塊 19"/>
              <p:cNvSpPr txBox="1"/>
              <p:nvPr userDrawn="1"/>
            </p:nvSpPr>
            <p:spPr>
              <a:xfrm>
                <a:off x="972598" y="3854182"/>
                <a:ext cx="8867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5400" dirty="0">
                    <a:solidFill>
                      <a:srgbClr val="E03E0D"/>
                    </a:solidFill>
                  </a:rPr>
                  <a:t>01</a:t>
                </a:r>
                <a:endParaRPr lang="zh-TW" altLang="en-US" sz="5400" dirty="0">
                  <a:solidFill>
                    <a:srgbClr val="E03E0D"/>
                  </a:solidFill>
                </a:endParaRPr>
              </a:p>
            </p:txBody>
          </p:sp>
          <p:sp>
            <p:nvSpPr>
              <p:cNvPr id="22" name="文字方塊 21"/>
              <p:cNvSpPr txBox="1"/>
              <p:nvPr userDrawn="1"/>
            </p:nvSpPr>
            <p:spPr>
              <a:xfrm>
                <a:off x="759398" y="4716805"/>
                <a:ext cx="131318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4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系統</a:t>
                </a:r>
                <a:endParaRPr lang="en-US" altLang="zh-TW" sz="44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4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概述</a:t>
                </a:r>
                <a:endParaRPr lang="en-US" altLang="zh-TW" sz="44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4" name="文字方塊 23"/>
            <p:cNvSpPr txBox="1"/>
            <p:nvPr userDrawn="1"/>
          </p:nvSpPr>
          <p:spPr>
            <a:xfrm>
              <a:off x="938935" y="2523158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6000" dirty="0">
                  <a:solidFill>
                    <a:srgbClr val="FFFFFF"/>
                  </a:solidFill>
                  <a:sym typeface="Webdings" panose="05030102010509060703" pitchFamily="18" charset="2"/>
                </a:rPr>
                <a:t></a:t>
              </a:r>
              <a:endParaRPr lang="zh-TW" altLang="en-US" sz="60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6" name="群組 25"/>
          <p:cNvGrpSpPr/>
          <p:nvPr userDrawn="1"/>
        </p:nvGrpSpPr>
        <p:grpSpPr>
          <a:xfrm>
            <a:off x="2747994" y="2025800"/>
            <a:ext cx="2016000" cy="4248000"/>
            <a:chOff x="407988" y="2025800"/>
            <a:chExt cx="2016000" cy="4248000"/>
          </a:xfrm>
        </p:grpSpPr>
        <p:grpSp>
          <p:nvGrpSpPr>
            <p:cNvPr id="27" name="群組 26"/>
            <p:cNvGrpSpPr/>
            <p:nvPr userDrawn="1"/>
          </p:nvGrpSpPr>
          <p:grpSpPr>
            <a:xfrm>
              <a:off x="407988" y="2025800"/>
              <a:ext cx="2016000" cy="4248000"/>
              <a:chOff x="407988" y="2025800"/>
              <a:chExt cx="2016000" cy="4248000"/>
            </a:xfrm>
          </p:grpSpPr>
          <p:sp>
            <p:nvSpPr>
              <p:cNvPr id="29" name="圓角矩形 28"/>
              <p:cNvSpPr/>
              <p:nvPr userDrawn="1"/>
            </p:nvSpPr>
            <p:spPr>
              <a:xfrm>
                <a:off x="407988" y="2025800"/>
                <a:ext cx="2016000" cy="4248000"/>
              </a:xfrm>
              <a:prstGeom prst="roundRect">
                <a:avLst>
                  <a:gd name="adj" fmla="val 532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304800" dist="101600" dir="8100000" algn="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30" name="群組 29"/>
              <p:cNvGrpSpPr/>
              <p:nvPr userDrawn="1"/>
            </p:nvGrpSpPr>
            <p:grpSpPr>
              <a:xfrm>
                <a:off x="737388" y="2342810"/>
                <a:ext cx="1357200" cy="1357200"/>
                <a:chOff x="3037945" y="3994075"/>
                <a:chExt cx="1357200" cy="1357200"/>
              </a:xfrm>
            </p:grpSpPr>
            <p:sp>
              <p:nvSpPr>
                <p:cNvPr id="34" name="橢圓 33"/>
                <p:cNvSpPr/>
                <p:nvPr userDrawn="1"/>
              </p:nvSpPr>
              <p:spPr>
                <a:xfrm>
                  <a:off x="3037945" y="3994075"/>
                  <a:ext cx="1357200" cy="1357200"/>
                </a:xfrm>
                <a:prstGeom prst="ellipse">
                  <a:avLst/>
                </a:prstGeom>
                <a:noFill/>
                <a:ln>
                  <a:solidFill>
                    <a:srgbClr val="F8B7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5" name="橢圓 34"/>
                <p:cNvSpPr/>
                <p:nvPr userDrawn="1"/>
              </p:nvSpPr>
              <p:spPr>
                <a:xfrm>
                  <a:off x="3142345" y="4098475"/>
                  <a:ext cx="1148400" cy="1148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31" name="直線接點 30"/>
              <p:cNvCxnSpPr/>
              <p:nvPr userDrawn="1"/>
            </p:nvCxnSpPr>
            <p:spPr>
              <a:xfrm>
                <a:off x="841788" y="3848100"/>
                <a:ext cx="1148400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文字方塊 31"/>
              <p:cNvSpPr txBox="1"/>
              <p:nvPr userDrawn="1"/>
            </p:nvSpPr>
            <p:spPr>
              <a:xfrm>
                <a:off x="972598" y="3854182"/>
                <a:ext cx="8867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5400" dirty="0">
                    <a:solidFill>
                      <a:srgbClr val="F8B70C"/>
                    </a:solidFill>
                  </a:rPr>
                  <a:t>02</a:t>
                </a:r>
                <a:endParaRPr lang="zh-TW" altLang="en-US" sz="5400" dirty="0">
                  <a:solidFill>
                    <a:srgbClr val="F8B70C"/>
                  </a:solidFill>
                </a:endParaRPr>
              </a:p>
            </p:txBody>
          </p:sp>
          <p:sp>
            <p:nvSpPr>
              <p:cNvPr id="33" name="文字方塊 32"/>
              <p:cNvSpPr txBox="1"/>
              <p:nvPr userDrawn="1"/>
            </p:nvSpPr>
            <p:spPr>
              <a:xfrm>
                <a:off x="759398" y="4716805"/>
                <a:ext cx="131318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4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架構</a:t>
                </a:r>
                <a:endParaRPr lang="en-US" altLang="zh-TW" sz="44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zh-TW" altLang="en-US" sz="4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設計</a:t>
                </a:r>
                <a:endParaRPr lang="en-US" altLang="zh-TW" sz="44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8" name="文字方塊 27"/>
            <p:cNvSpPr txBox="1"/>
            <p:nvPr userDrawn="1"/>
          </p:nvSpPr>
          <p:spPr>
            <a:xfrm>
              <a:off x="957985" y="2504108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6000" dirty="0">
                  <a:solidFill>
                    <a:srgbClr val="FFFFFF"/>
                  </a:solidFill>
                  <a:sym typeface="Webdings" panose="05030102010509060703" pitchFamily="18" charset="2"/>
                </a:rPr>
                <a:t></a:t>
              </a:r>
            </a:p>
          </p:txBody>
        </p:sp>
      </p:grpSp>
      <p:grpSp>
        <p:nvGrpSpPr>
          <p:cNvPr id="36" name="群組 35"/>
          <p:cNvGrpSpPr/>
          <p:nvPr userDrawn="1"/>
        </p:nvGrpSpPr>
        <p:grpSpPr>
          <a:xfrm>
            <a:off x="5088000" y="2025800"/>
            <a:ext cx="2016000" cy="4248000"/>
            <a:chOff x="407988" y="2025800"/>
            <a:chExt cx="2016000" cy="4248000"/>
          </a:xfrm>
        </p:grpSpPr>
        <p:grpSp>
          <p:nvGrpSpPr>
            <p:cNvPr id="37" name="群組 36"/>
            <p:cNvGrpSpPr/>
            <p:nvPr userDrawn="1"/>
          </p:nvGrpSpPr>
          <p:grpSpPr>
            <a:xfrm>
              <a:off x="407988" y="2025800"/>
              <a:ext cx="2016000" cy="4248000"/>
              <a:chOff x="407988" y="2025800"/>
              <a:chExt cx="2016000" cy="4248000"/>
            </a:xfrm>
          </p:grpSpPr>
          <p:sp>
            <p:nvSpPr>
              <p:cNvPr id="39" name="圓角矩形 38"/>
              <p:cNvSpPr/>
              <p:nvPr userDrawn="1"/>
            </p:nvSpPr>
            <p:spPr>
              <a:xfrm>
                <a:off x="407988" y="2025800"/>
                <a:ext cx="2016000" cy="4248000"/>
              </a:xfrm>
              <a:prstGeom prst="roundRect">
                <a:avLst>
                  <a:gd name="adj" fmla="val 532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304800" dist="101600" dir="8100000" algn="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40" name="群組 39"/>
              <p:cNvGrpSpPr/>
              <p:nvPr userDrawn="1"/>
            </p:nvGrpSpPr>
            <p:grpSpPr>
              <a:xfrm>
                <a:off x="737388" y="2342810"/>
                <a:ext cx="1357200" cy="1357200"/>
                <a:chOff x="3037945" y="3994075"/>
                <a:chExt cx="1357200" cy="1357200"/>
              </a:xfrm>
            </p:grpSpPr>
            <p:sp>
              <p:nvSpPr>
                <p:cNvPr id="44" name="橢圓 43"/>
                <p:cNvSpPr/>
                <p:nvPr userDrawn="1"/>
              </p:nvSpPr>
              <p:spPr>
                <a:xfrm>
                  <a:off x="3037945" y="3994075"/>
                  <a:ext cx="1357200" cy="1357200"/>
                </a:xfrm>
                <a:prstGeom prst="ellipse">
                  <a:avLst/>
                </a:prstGeom>
                <a:noFill/>
                <a:ln>
                  <a:solidFill>
                    <a:srgbClr val="1C9FC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5" name="橢圓 44"/>
                <p:cNvSpPr/>
                <p:nvPr userDrawn="1"/>
              </p:nvSpPr>
              <p:spPr>
                <a:xfrm>
                  <a:off x="3142345" y="4098475"/>
                  <a:ext cx="1148400" cy="11484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41" name="直線接點 40"/>
              <p:cNvCxnSpPr/>
              <p:nvPr userDrawn="1"/>
            </p:nvCxnSpPr>
            <p:spPr>
              <a:xfrm>
                <a:off x="841788" y="3848100"/>
                <a:ext cx="1148400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文字方塊 41"/>
              <p:cNvSpPr txBox="1"/>
              <p:nvPr userDrawn="1"/>
            </p:nvSpPr>
            <p:spPr>
              <a:xfrm>
                <a:off x="972598" y="3854182"/>
                <a:ext cx="8867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5400" dirty="0">
                    <a:solidFill>
                      <a:srgbClr val="1C9FCB"/>
                    </a:solidFill>
                  </a:rPr>
                  <a:t>03</a:t>
                </a:r>
                <a:endParaRPr lang="zh-TW" altLang="en-US" sz="5400" dirty="0">
                  <a:solidFill>
                    <a:srgbClr val="1C9FCB"/>
                  </a:solidFill>
                </a:endParaRPr>
              </a:p>
            </p:txBody>
          </p:sp>
          <p:sp>
            <p:nvSpPr>
              <p:cNvPr id="43" name="文字方塊 42"/>
              <p:cNvSpPr txBox="1"/>
              <p:nvPr userDrawn="1"/>
            </p:nvSpPr>
            <p:spPr>
              <a:xfrm>
                <a:off x="759398" y="4716805"/>
                <a:ext cx="131318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4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核心</a:t>
                </a:r>
                <a:endParaRPr lang="en-US" altLang="zh-TW" sz="44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zh-TW" altLang="en-US" sz="4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特色</a:t>
                </a:r>
                <a:endParaRPr lang="en-US" altLang="zh-TW" sz="44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38" name="文字方塊 37"/>
            <p:cNvSpPr txBox="1"/>
            <p:nvPr userDrawn="1"/>
          </p:nvSpPr>
          <p:spPr>
            <a:xfrm>
              <a:off x="977035" y="2504108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6000" dirty="0">
                  <a:solidFill>
                    <a:srgbClr val="FFFFFF"/>
                  </a:solidFill>
                  <a:sym typeface="Webdings" panose="05030102010509060703" pitchFamily="18" charset="2"/>
                </a:rPr>
                <a:t></a:t>
              </a:r>
            </a:p>
          </p:txBody>
        </p:sp>
      </p:grpSp>
      <p:grpSp>
        <p:nvGrpSpPr>
          <p:cNvPr id="46" name="群組 45"/>
          <p:cNvGrpSpPr/>
          <p:nvPr userDrawn="1"/>
        </p:nvGrpSpPr>
        <p:grpSpPr>
          <a:xfrm>
            <a:off x="7428006" y="2025800"/>
            <a:ext cx="2016000" cy="4248000"/>
            <a:chOff x="407988" y="2025800"/>
            <a:chExt cx="2016000" cy="4248000"/>
          </a:xfrm>
        </p:grpSpPr>
        <p:grpSp>
          <p:nvGrpSpPr>
            <p:cNvPr id="47" name="群組 46"/>
            <p:cNvGrpSpPr/>
            <p:nvPr userDrawn="1"/>
          </p:nvGrpSpPr>
          <p:grpSpPr>
            <a:xfrm>
              <a:off x="407988" y="2025800"/>
              <a:ext cx="2016000" cy="4248000"/>
              <a:chOff x="407988" y="2025800"/>
              <a:chExt cx="2016000" cy="4248000"/>
            </a:xfrm>
          </p:grpSpPr>
          <p:sp>
            <p:nvSpPr>
              <p:cNvPr id="49" name="圓角矩形 48"/>
              <p:cNvSpPr/>
              <p:nvPr userDrawn="1"/>
            </p:nvSpPr>
            <p:spPr>
              <a:xfrm>
                <a:off x="407988" y="2025800"/>
                <a:ext cx="2016000" cy="4248000"/>
              </a:xfrm>
              <a:prstGeom prst="roundRect">
                <a:avLst>
                  <a:gd name="adj" fmla="val 532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304800" dist="101600" dir="8100000" algn="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50" name="群組 49"/>
              <p:cNvGrpSpPr/>
              <p:nvPr userDrawn="1"/>
            </p:nvGrpSpPr>
            <p:grpSpPr>
              <a:xfrm>
                <a:off x="737388" y="2342810"/>
                <a:ext cx="1357200" cy="1357200"/>
                <a:chOff x="3037945" y="3994075"/>
                <a:chExt cx="1357200" cy="1357200"/>
              </a:xfrm>
            </p:grpSpPr>
            <p:sp>
              <p:nvSpPr>
                <p:cNvPr id="54" name="橢圓 53"/>
                <p:cNvSpPr/>
                <p:nvPr userDrawn="1"/>
              </p:nvSpPr>
              <p:spPr>
                <a:xfrm>
                  <a:off x="3037945" y="3994075"/>
                  <a:ext cx="1357200" cy="1357200"/>
                </a:xfrm>
                <a:prstGeom prst="ellipse">
                  <a:avLst/>
                </a:prstGeom>
                <a:noFill/>
                <a:ln>
                  <a:solidFill>
                    <a:srgbClr val="32CB5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5" name="橢圓 54"/>
                <p:cNvSpPr/>
                <p:nvPr userDrawn="1"/>
              </p:nvSpPr>
              <p:spPr>
                <a:xfrm>
                  <a:off x="3142345" y="4098475"/>
                  <a:ext cx="1148400" cy="1148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51" name="直線接點 50"/>
              <p:cNvCxnSpPr/>
              <p:nvPr userDrawn="1"/>
            </p:nvCxnSpPr>
            <p:spPr>
              <a:xfrm>
                <a:off x="841788" y="3848100"/>
                <a:ext cx="1148400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文字方塊 51"/>
              <p:cNvSpPr txBox="1"/>
              <p:nvPr userDrawn="1"/>
            </p:nvSpPr>
            <p:spPr>
              <a:xfrm>
                <a:off x="972598" y="3854182"/>
                <a:ext cx="8867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5400" dirty="0">
                    <a:solidFill>
                      <a:srgbClr val="32CB58"/>
                    </a:solidFill>
                  </a:rPr>
                  <a:t>04</a:t>
                </a:r>
                <a:endParaRPr lang="zh-TW" altLang="en-US" sz="5400" dirty="0">
                  <a:solidFill>
                    <a:srgbClr val="32CB58"/>
                  </a:solidFill>
                </a:endParaRPr>
              </a:p>
            </p:txBody>
          </p:sp>
          <p:sp>
            <p:nvSpPr>
              <p:cNvPr id="53" name="文字方塊 52"/>
              <p:cNvSpPr txBox="1"/>
              <p:nvPr userDrawn="1"/>
            </p:nvSpPr>
            <p:spPr>
              <a:xfrm>
                <a:off x="759398" y="4716805"/>
                <a:ext cx="131318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4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程式</a:t>
                </a:r>
                <a:endParaRPr lang="en-US" altLang="zh-TW" sz="44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zh-TW" altLang="en-US" sz="4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生成</a:t>
                </a:r>
                <a:endParaRPr lang="en-US" altLang="zh-TW" sz="44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48" name="文字方塊 47"/>
            <p:cNvSpPr txBox="1"/>
            <p:nvPr userDrawn="1"/>
          </p:nvSpPr>
          <p:spPr>
            <a:xfrm>
              <a:off x="957985" y="2504108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6000" dirty="0">
                  <a:solidFill>
                    <a:srgbClr val="FFFFFF"/>
                  </a:solidFill>
                  <a:sym typeface="Webdings" panose="05030102010509060703" pitchFamily="18" charset="2"/>
                </a:rPr>
                <a:t></a:t>
              </a:r>
              <a:endParaRPr lang="zh-TW" altLang="en-US" sz="60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56" name="群組 55"/>
          <p:cNvGrpSpPr/>
          <p:nvPr userDrawn="1"/>
        </p:nvGrpSpPr>
        <p:grpSpPr>
          <a:xfrm>
            <a:off x="9768013" y="2025800"/>
            <a:ext cx="2016000" cy="4248000"/>
            <a:chOff x="407988" y="2025800"/>
            <a:chExt cx="2016000" cy="4248000"/>
          </a:xfrm>
        </p:grpSpPr>
        <p:grpSp>
          <p:nvGrpSpPr>
            <p:cNvPr id="57" name="群組 56"/>
            <p:cNvGrpSpPr/>
            <p:nvPr userDrawn="1"/>
          </p:nvGrpSpPr>
          <p:grpSpPr>
            <a:xfrm>
              <a:off x="407988" y="2025800"/>
              <a:ext cx="2016000" cy="4248000"/>
              <a:chOff x="407988" y="2025800"/>
              <a:chExt cx="2016000" cy="4248000"/>
            </a:xfrm>
          </p:grpSpPr>
          <p:sp>
            <p:nvSpPr>
              <p:cNvPr id="59" name="圓角矩形 58"/>
              <p:cNvSpPr/>
              <p:nvPr userDrawn="1"/>
            </p:nvSpPr>
            <p:spPr>
              <a:xfrm>
                <a:off x="407988" y="2025800"/>
                <a:ext cx="2016000" cy="4248000"/>
              </a:xfrm>
              <a:prstGeom prst="roundRect">
                <a:avLst>
                  <a:gd name="adj" fmla="val 532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304800" dist="101600" dir="8100000" algn="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60" name="群組 59"/>
              <p:cNvGrpSpPr/>
              <p:nvPr userDrawn="1"/>
            </p:nvGrpSpPr>
            <p:grpSpPr>
              <a:xfrm>
                <a:off x="737388" y="2342810"/>
                <a:ext cx="1357200" cy="1357200"/>
                <a:chOff x="3037945" y="3994075"/>
                <a:chExt cx="1357200" cy="1357200"/>
              </a:xfrm>
            </p:grpSpPr>
            <p:sp>
              <p:nvSpPr>
                <p:cNvPr id="64" name="橢圓 63"/>
                <p:cNvSpPr/>
                <p:nvPr userDrawn="1"/>
              </p:nvSpPr>
              <p:spPr>
                <a:xfrm>
                  <a:off x="3037945" y="3994075"/>
                  <a:ext cx="1357200" cy="1357200"/>
                </a:xfrm>
                <a:prstGeom prst="ellipse">
                  <a:avLst/>
                </a:prstGeom>
                <a:noFill/>
                <a:ln>
                  <a:solidFill>
                    <a:srgbClr val="A466D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5" name="橢圓 64"/>
                <p:cNvSpPr/>
                <p:nvPr userDrawn="1"/>
              </p:nvSpPr>
              <p:spPr>
                <a:xfrm>
                  <a:off x="3142345" y="4098475"/>
                  <a:ext cx="1148400" cy="11484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61" name="直線接點 60"/>
              <p:cNvCxnSpPr/>
              <p:nvPr userDrawn="1"/>
            </p:nvCxnSpPr>
            <p:spPr>
              <a:xfrm>
                <a:off x="841788" y="3848100"/>
                <a:ext cx="1148400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文字方塊 61"/>
              <p:cNvSpPr txBox="1"/>
              <p:nvPr userDrawn="1"/>
            </p:nvSpPr>
            <p:spPr>
              <a:xfrm>
                <a:off x="972598" y="3854182"/>
                <a:ext cx="8867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5400" dirty="0">
                    <a:solidFill>
                      <a:srgbClr val="A466D8"/>
                    </a:solidFill>
                  </a:rPr>
                  <a:t>05</a:t>
                </a:r>
                <a:endParaRPr lang="zh-TW" altLang="en-US" sz="5400" dirty="0">
                  <a:solidFill>
                    <a:srgbClr val="A466D8"/>
                  </a:solidFill>
                </a:endParaRPr>
              </a:p>
            </p:txBody>
          </p:sp>
          <p:sp>
            <p:nvSpPr>
              <p:cNvPr id="63" name="文字方塊 62"/>
              <p:cNvSpPr txBox="1"/>
              <p:nvPr userDrawn="1"/>
            </p:nvSpPr>
            <p:spPr>
              <a:xfrm>
                <a:off x="759398" y="4716805"/>
                <a:ext cx="131318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4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未來</a:t>
                </a:r>
                <a:endParaRPr lang="en-US" altLang="zh-TW" sz="44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zh-TW" altLang="en-US" sz="4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展望</a:t>
                </a:r>
                <a:endParaRPr lang="en-US" altLang="zh-TW" sz="44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58" name="文字方塊 57"/>
            <p:cNvSpPr txBox="1"/>
            <p:nvPr userDrawn="1"/>
          </p:nvSpPr>
          <p:spPr>
            <a:xfrm>
              <a:off x="957985" y="2504108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6000" dirty="0">
                  <a:solidFill>
                    <a:srgbClr val="FFFFFF"/>
                  </a:solidFill>
                  <a:sym typeface="Webdings" panose="05030102010509060703" pitchFamily="18" charset="2"/>
                </a:rPr>
                <a:t></a:t>
              </a:r>
              <a:endParaRPr lang="zh-TW" altLang="en-US" sz="6000" dirty="0">
                <a:solidFill>
                  <a:srgbClr val="FFFFFF"/>
                </a:solidFill>
              </a:endParaRPr>
            </a:p>
          </p:txBody>
        </p:sp>
      </p:grpSp>
      <p:sp>
        <p:nvSpPr>
          <p:cNvPr id="66" name="文字方塊 65"/>
          <p:cNvSpPr txBox="1"/>
          <p:nvPr userDrawn="1"/>
        </p:nvSpPr>
        <p:spPr>
          <a:xfrm>
            <a:off x="1327031" y="-452158"/>
            <a:ext cx="953793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600" dirty="0">
                <a:solidFill>
                  <a:srgbClr val="FFFFFF"/>
                </a:solidFill>
              </a:rPr>
              <a:t>CONTENTS</a:t>
            </a:r>
            <a:endParaRPr lang="zh-TW" altLang="en-US" sz="16600" dirty="0">
              <a:solidFill>
                <a:srgbClr val="FFFFFF"/>
              </a:solidFill>
            </a:endParaRPr>
          </a:p>
        </p:txBody>
      </p:sp>
      <p:sp>
        <p:nvSpPr>
          <p:cNvPr id="67" name="文字方塊 66"/>
          <p:cNvSpPr txBox="1"/>
          <p:nvPr userDrawn="1"/>
        </p:nvSpPr>
        <p:spPr>
          <a:xfrm>
            <a:off x="5360862" y="639957"/>
            <a:ext cx="1569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目錄</a:t>
            </a:r>
          </a:p>
        </p:txBody>
      </p:sp>
    </p:spTree>
    <p:extLst>
      <p:ext uri="{BB962C8B-B14F-4D97-AF65-F5344CB8AC3E}">
        <p14:creationId xmlns:p14="http://schemas.microsoft.com/office/powerpoint/2010/main" val="64331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甜甜圈 10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7692000" y="-4500000"/>
            <a:ext cx="9000000" cy="9000000"/>
            <a:chOff x="3988526" y="1321526"/>
            <a:chExt cx="4214949" cy="4214949"/>
          </a:xfrm>
        </p:grpSpPr>
        <p:sp>
          <p:nvSpPr>
            <p:cNvPr id="8" name="橢圓 7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E03E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E03E0D"/>
            </a:solidFill>
            <a:ln>
              <a:noFill/>
            </a:ln>
            <a:effectLst>
              <a:outerShdw blurRad="457200" sx="102000" sy="102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/>
          <p:cNvSpPr txBox="1"/>
          <p:nvPr userDrawn="1"/>
        </p:nvSpPr>
        <p:spPr>
          <a:xfrm>
            <a:off x="407988" y="528548"/>
            <a:ext cx="3215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 01</a:t>
            </a:r>
            <a:endParaRPr lang="zh-TW" altLang="en-US" sz="7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-2484136" y="4500000"/>
            <a:ext cx="9000000" cy="900000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E03E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E03E0D"/>
            </a:solidFill>
            <a:ln>
              <a:noFill/>
            </a:ln>
            <a:effectLst>
              <a:outerShdw blurRad="457200" sx="102000" sy="102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6044959" y="4721905"/>
            <a:ext cx="5827236" cy="8556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>
                <a:solidFill>
                  <a:srgbClr val="E03E0D"/>
                </a:solidFill>
              </a:rPr>
              <a:t>計畫緣起</a:t>
            </a:r>
            <a:endParaRPr lang="en-US" altLang="zh-TW" sz="11000" b="1" dirty="0">
              <a:solidFill>
                <a:srgbClr val="E03E0D"/>
              </a:solidFill>
            </a:endParaRPr>
          </a:p>
          <a:p>
            <a:r>
              <a:rPr lang="zh-TW" altLang="en-US" sz="11000" b="1" dirty="0">
                <a:solidFill>
                  <a:srgbClr val="F8B70C"/>
                </a:solidFill>
              </a:rPr>
              <a:t>產業概況</a:t>
            </a:r>
            <a:endParaRPr lang="en-US" altLang="zh-TW" sz="11000" b="1" dirty="0">
              <a:solidFill>
                <a:srgbClr val="F8B70C"/>
              </a:solidFill>
            </a:endParaRPr>
          </a:p>
          <a:p>
            <a:r>
              <a:rPr lang="zh-TW" altLang="en-US" sz="11000" b="1" dirty="0">
                <a:solidFill>
                  <a:srgbClr val="1C9FCB"/>
                </a:solidFill>
              </a:rPr>
              <a:t>問卷分析</a:t>
            </a:r>
            <a:endParaRPr lang="en-US" altLang="zh-TW" sz="11000" b="1" dirty="0">
              <a:solidFill>
                <a:srgbClr val="1C9FCB"/>
              </a:solidFill>
            </a:endParaRPr>
          </a:p>
          <a:p>
            <a:r>
              <a:rPr lang="zh-TW" altLang="en-US" sz="11000" b="1" dirty="0">
                <a:solidFill>
                  <a:srgbClr val="32CB58"/>
                </a:solidFill>
              </a:rPr>
              <a:t>行銷計畫</a:t>
            </a:r>
            <a:endParaRPr lang="en-US" altLang="zh-TW" sz="11000" b="1" dirty="0">
              <a:solidFill>
                <a:srgbClr val="32CB58"/>
              </a:solidFill>
            </a:endParaRPr>
          </a:p>
          <a:p>
            <a:r>
              <a:rPr lang="zh-TW" altLang="en-US" sz="11000" b="1" dirty="0">
                <a:solidFill>
                  <a:srgbClr val="A466D8"/>
                </a:solidFill>
              </a:rPr>
              <a:t>計畫總結</a:t>
            </a:r>
            <a:endParaRPr lang="en-US" altLang="zh-TW" sz="11000" b="1" dirty="0">
              <a:solidFill>
                <a:srgbClr val="A466D8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21164" y="1671602"/>
            <a:ext cx="5827236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1000" b="1" i="0" u="none" strike="noStrike" kern="1200" cap="none" spc="0" normalizeH="0" baseline="0" noProof="0" dirty="0">
                <a:ln>
                  <a:noFill/>
                </a:ln>
                <a:solidFill>
                  <a:srgbClr val="E03E0D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系統概述</a:t>
            </a:r>
            <a:endParaRPr kumimoji="0" lang="en-US" altLang="zh-TW" sz="11000" b="1" i="0" u="none" strike="noStrike" kern="1200" cap="none" spc="0" normalizeH="0" baseline="0" noProof="0" dirty="0">
              <a:ln>
                <a:noFill/>
              </a:ln>
              <a:solidFill>
                <a:srgbClr val="E03E0D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91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/>
      <p:bldP spid="17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接點 16"/>
          <p:cNvCxnSpPr/>
          <p:nvPr userDrawn="1"/>
        </p:nvCxnSpPr>
        <p:spPr>
          <a:xfrm>
            <a:off x="407988" y="6416674"/>
            <a:ext cx="11376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 userDrawn="1"/>
        </p:nvGrpSpPr>
        <p:grpSpPr>
          <a:xfrm>
            <a:off x="3939150" y="-2164275"/>
            <a:ext cx="11186550" cy="11186550"/>
            <a:chOff x="3988526" y="1321526"/>
            <a:chExt cx="4214949" cy="4214949"/>
          </a:xfrm>
        </p:grpSpPr>
        <p:sp>
          <p:nvSpPr>
            <p:cNvPr id="9" name="橢圓 8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FDD5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E03E0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文字方塊 14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rgbClr val="FFFFFF"/>
                </a:solidFill>
              </a:rPr>
              <a:t>‹#›</a:t>
            </a:fld>
            <a:endParaRPr lang="zh-TW" altLang="en-US" sz="120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 userDrawn="1"/>
        </p:nvSpPr>
        <p:spPr>
          <a:xfrm>
            <a:off x="407987" y="1376363"/>
            <a:ext cx="11376025" cy="4897437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>
            <a:noFill/>
          </a:ln>
          <a:effectLst>
            <a:outerShdw blurRad="3048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甜甜圈 18"/>
          <p:cNvSpPr/>
          <p:nvPr userDrawn="1"/>
        </p:nvSpPr>
        <p:spPr>
          <a:xfrm>
            <a:off x="-1623873" y="-1252309"/>
            <a:ext cx="2561946" cy="2561946"/>
          </a:xfrm>
          <a:prstGeom prst="donut">
            <a:avLst>
              <a:gd name="adj" fmla="val 15772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1702637" y="-3240847"/>
            <a:ext cx="2236510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>
                <a:solidFill>
                  <a:srgbClr val="E03E0D"/>
                </a:solidFill>
              </a:rPr>
              <a:t>計畫緣起</a:t>
            </a:r>
            <a:endParaRPr lang="en-US" altLang="zh-TW" sz="4000" b="1" dirty="0">
              <a:solidFill>
                <a:srgbClr val="E03E0D"/>
              </a:solidFill>
            </a:endParaRPr>
          </a:p>
          <a:p>
            <a:r>
              <a:rPr lang="zh-TW" altLang="en-US" sz="4000" b="1" dirty="0">
                <a:solidFill>
                  <a:srgbClr val="F8B70C"/>
                </a:solidFill>
              </a:rPr>
              <a:t>產業概況</a:t>
            </a:r>
            <a:endParaRPr lang="en-US" altLang="zh-TW" sz="4000" b="1" dirty="0">
              <a:solidFill>
                <a:srgbClr val="F8B70C"/>
              </a:solidFill>
            </a:endParaRPr>
          </a:p>
          <a:p>
            <a:r>
              <a:rPr lang="zh-TW" altLang="en-US" sz="4000" b="1" dirty="0">
                <a:solidFill>
                  <a:srgbClr val="1C9FCB"/>
                </a:solidFill>
              </a:rPr>
              <a:t>問卷分析</a:t>
            </a:r>
            <a:endParaRPr lang="en-US" altLang="zh-TW" sz="4000" b="1" dirty="0">
              <a:solidFill>
                <a:srgbClr val="1C9FCB"/>
              </a:solidFill>
            </a:endParaRPr>
          </a:p>
          <a:p>
            <a:r>
              <a:rPr lang="zh-TW" altLang="en-US" sz="4000" b="1" dirty="0">
                <a:solidFill>
                  <a:srgbClr val="32CB58"/>
                </a:solidFill>
              </a:rPr>
              <a:t>行銷計畫</a:t>
            </a:r>
            <a:endParaRPr lang="en-US" altLang="zh-TW" sz="4000" b="1" dirty="0">
              <a:solidFill>
                <a:srgbClr val="32CB58"/>
              </a:solidFill>
            </a:endParaRPr>
          </a:p>
          <a:p>
            <a:r>
              <a:rPr lang="zh-TW" altLang="en-US" sz="4000" b="1" dirty="0">
                <a:solidFill>
                  <a:srgbClr val="A466D8"/>
                </a:solidFill>
              </a:rPr>
              <a:t>計畫總結</a:t>
            </a:r>
            <a:endParaRPr lang="en-US" altLang="zh-TW" sz="4000" b="1" dirty="0">
              <a:solidFill>
                <a:srgbClr val="A466D8"/>
              </a:solidFill>
            </a:endParaRPr>
          </a:p>
        </p:txBody>
      </p:sp>
      <p:grpSp>
        <p:nvGrpSpPr>
          <p:cNvPr id="23" name="群組 22"/>
          <p:cNvGrpSpPr/>
          <p:nvPr userDrawn="1"/>
        </p:nvGrpSpPr>
        <p:grpSpPr>
          <a:xfrm>
            <a:off x="408143" y="0"/>
            <a:ext cx="3218712" cy="1200329"/>
            <a:chOff x="408143" y="0"/>
            <a:chExt cx="3218712" cy="1200329"/>
          </a:xfrm>
        </p:grpSpPr>
        <p:sp>
          <p:nvSpPr>
            <p:cNvPr id="20" name="文字方塊 19"/>
            <p:cNvSpPr txBox="1"/>
            <p:nvPr userDrawn="1"/>
          </p:nvSpPr>
          <p:spPr>
            <a:xfrm>
              <a:off x="408143" y="0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7200" b="1" dirty="0">
                  <a:solidFill>
                    <a:srgbClr val="E03E0D"/>
                  </a:solidFill>
                </a:rPr>
                <a:t>01</a:t>
              </a:r>
              <a:endParaRPr lang="zh-TW" altLang="en-US" sz="7200" b="1" dirty="0">
                <a:solidFill>
                  <a:srgbClr val="E03E0D"/>
                </a:solidFill>
              </a:endParaRPr>
            </a:p>
          </p:txBody>
        </p:sp>
        <p:sp>
          <p:nvSpPr>
            <p:cNvPr id="22" name="文字方塊 21"/>
            <p:cNvSpPr txBox="1"/>
            <p:nvPr userDrawn="1"/>
          </p:nvSpPr>
          <p:spPr>
            <a:xfrm>
              <a:off x="1390345" y="347936"/>
              <a:ext cx="22365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03E0D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系統概述</a:t>
              </a:r>
              <a:endPara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rgbClr val="E03E0D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4" name="文字方塊 23"/>
          <p:cNvSpPr txBox="1"/>
          <p:nvPr userDrawn="1"/>
        </p:nvSpPr>
        <p:spPr>
          <a:xfrm>
            <a:off x="1434736" y="203429"/>
            <a:ext cx="8130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PART ONE</a:t>
            </a:r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13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甜甜圈 10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7692000" y="-4500000"/>
            <a:ext cx="9000000" cy="9000000"/>
            <a:chOff x="3988526" y="1321526"/>
            <a:chExt cx="4214949" cy="4214949"/>
          </a:xfrm>
        </p:grpSpPr>
        <p:sp>
          <p:nvSpPr>
            <p:cNvPr id="8" name="橢圓 7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F8B7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F8B70C"/>
            </a:solidFill>
            <a:ln>
              <a:noFill/>
            </a:ln>
            <a:effectLst>
              <a:outerShdw blurRad="457200" sx="102000" sy="102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/>
          <p:cNvSpPr txBox="1"/>
          <p:nvPr userDrawn="1"/>
        </p:nvSpPr>
        <p:spPr>
          <a:xfrm>
            <a:off x="407988" y="528548"/>
            <a:ext cx="3215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 02</a:t>
            </a:r>
            <a:endParaRPr lang="zh-TW" altLang="en-US" sz="7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-2484136" y="4500000"/>
            <a:ext cx="9000000" cy="900000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F8B7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F8B70C"/>
            </a:solidFill>
            <a:ln>
              <a:noFill/>
            </a:ln>
            <a:effectLst>
              <a:outerShdw blurRad="457200" sx="102000" sy="102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6044959" y="4721905"/>
            <a:ext cx="5827236" cy="8556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>
                <a:solidFill>
                  <a:srgbClr val="E03E0D"/>
                </a:solidFill>
              </a:rPr>
              <a:t>計畫緣起</a:t>
            </a:r>
            <a:endParaRPr lang="en-US" altLang="zh-TW" sz="11000" b="1" dirty="0">
              <a:solidFill>
                <a:srgbClr val="E03E0D"/>
              </a:solidFill>
            </a:endParaRPr>
          </a:p>
          <a:p>
            <a:r>
              <a:rPr lang="zh-TW" altLang="en-US" sz="11000" b="1" dirty="0">
                <a:solidFill>
                  <a:srgbClr val="F8B70C"/>
                </a:solidFill>
              </a:rPr>
              <a:t>產業概況</a:t>
            </a:r>
            <a:endParaRPr lang="en-US" altLang="zh-TW" sz="11000" b="1" dirty="0">
              <a:solidFill>
                <a:srgbClr val="F8B70C"/>
              </a:solidFill>
            </a:endParaRPr>
          </a:p>
          <a:p>
            <a:r>
              <a:rPr lang="zh-TW" altLang="en-US" sz="11000" b="1" dirty="0">
                <a:solidFill>
                  <a:srgbClr val="1C9FCB"/>
                </a:solidFill>
              </a:rPr>
              <a:t>問卷分析</a:t>
            </a:r>
            <a:endParaRPr lang="en-US" altLang="zh-TW" sz="11000" b="1" dirty="0">
              <a:solidFill>
                <a:srgbClr val="1C9FCB"/>
              </a:solidFill>
            </a:endParaRPr>
          </a:p>
          <a:p>
            <a:r>
              <a:rPr lang="zh-TW" altLang="en-US" sz="11000" b="1" dirty="0">
                <a:solidFill>
                  <a:srgbClr val="32CB58"/>
                </a:solidFill>
              </a:rPr>
              <a:t>行銷計畫</a:t>
            </a:r>
            <a:endParaRPr lang="en-US" altLang="zh-TW" sz="11000" b="1" dirty="0">
              <a:solidFill>
                <a:srgbClr val="32CB58"/>
              </a:solidFill>
            </a:endParaRPr>
          </a:p>
          <a:p>
            <a:r>
              <a:rPr lang="zh-TW" altLang="en-US" sz="11000" b="1" dirty="0">
                <a:solidFill>
                  <a:srgbClr val="A466D8"/>
                </a:solidFill>
              </a:rPr>
              <a:t>計畫總結</a:t>
            </a:r>
            <a:endParaRPr lang="en-US" altLang="zh-TW" sz="11000" b="1" dirty="0">
              <a:solidFill>
                <a:srgbClr val="A466D8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21164" y="1671602"/>
            <a:ext cx="5827236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>
                <a:solidFill>
                  <a:srgbClr val="F8B70C"/>
                </a:solidFill>
              </a:rPr>
              <a:t>架構設計</a:t>
            </a:r>
            <a:endParaRPr lang="en-US" altLang="zh-TW" sz="11000" b="1" dirty="0">
              <a:solidFill>
                <a:srgbClr val="F8B7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74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/>
      <p:bldP spid="17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接點 16"/>
          <p:cNvCxnSpPr/>
          <p:nvPr userDrawn="1"/>
        </p:nvCxnSpPr>
        <p:spPr>
          <a:xfrm>
            <a:off x="407988" y="6416674"/>
            <a:ext cx="11376025" cy="0"/>
          </a:xfrm>
          <a:prstGeom prst="line">
            <a:avLst/>
          </a:prstGeom>
          <a:ln>
            <a:solidFill>
              <a:srgbClr val="F8B7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 userDrawn="1"/>
        </p:nvGrpSpPr>
        <p:grpSpPr>
          <a:xfrm>
            <a:off x="3939150" y="-2164275"/>
            <a:ext cx="11186550" cy="11186550"/>
            <a:chOff x="3988526" y="1321526"/>
            <a:chExt cx="4214949" cy="4214949"/>
          </a:xfrm>
        </p:grpSpPr>
        <p:sp>
          <p:nvSpPr>
            <p:cNvPr id="9" name="橢圓 8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FDF0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F8B70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rgbClr val="F8B70C"/>
                </a:solidFill>
              </a:endParaRPr>
            </a:p>
          </p:txBody>
        </p:sp>
      </p:grpSp>
      <p:sp>
        <p:nvSpPr>
          <p:cNvPr id="15" name="文字方塊 14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rgbClr val="FFFFFF"/>
                </a:solidFill>
              </a:rPr>
              <a:t>‹#›</a:t>
            </a:fld>
            <a:endParaRPr lang="zh-TW" altLang="en-US" sz="120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 userDrawn="1"/>
        </p:nvSpPr>
        <p:spPr>
          <a:xfrm>
            <a:off x="407987" y="1376363"/>
            <a:ext cx="11376025" cy="4897437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>
            <a:noFill/>
          </a:ln>
          <a:effectLst>
            <a:outerShdw blurRad="304800" sx="102000" sy="102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甜甜圈 18"/>
          <p:cNvSpPr/>
          <p:nvPr userDrawn="1"/>
        </p:nvSpPr>
        <p:spPr>
          <a:xfrm>
            <a:off x="-1623873" y="-1252309"/>
            <a:ext cx="2561946" cy="2561946"/>
          </a:xfrm>
          <a:prstGeom prst="donut">
            <a:avLst>
              <a:gd name="adj" fmla="val 15772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1702637" y="-3240847"/>
            <a:ext cx="2236510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>
                <a:solidFill>
                  <a:srgbClr val="E03E0D"/>
                </a:solidFill>
              </a:rPr>
              <a:t>計畫緣起</a:t>
            </a:r>
            <a:endParaRPr lang="en-US" altLang="zh-TW" sz="4000" b="1" dirty="0">
              <a:solidFill>
                <a:srgbClr val="E03E0D"/>
              </a:solidFill>
            </a:endParaRPr>
          </a:p>
          <a:p>
            <a:r>
              <a:rPr lang="zh-TW" altLang="en-US" sz="4000" b="1" dirty="0">
                <a:solidFill>
                  <a:srgbClr val="F8B70C"/>
                </a:solidFill>
              </a:rPr>
              <a:t>產業概況</a:t>
            </a:r>
            <a:endParaRPr lang="en-US" altLang="zh-TW" sz="4000" b="1" dirty="0">
              <a:solidFill>
                <a:srgbClr val="F8B70C"/>
              </a:solidFill>
            </a:endParaRPr>
          </a:p>
          <a:p>
            <a:r>
              <a:rPr lang="zh-TW" altLang="en-US" sz="4000" b="1" dirty="0">
                <a:solidFill>
                  <a:srgbClr val="1C9FCB"/>
                </a:solidFill>
              </a:rPr>
              <a:t>問卷分析</a:t>
            </a:r>
            <a:endParaRPr lang="en-US" altLang="zh-TW" sz="4000" b="1" dirty="0">
              <a:solidFill>
                <a:srgbClr val="1C9FCB"/>
              </a:solidFill>
            </a:endParaRPr>
          </a:p>
          <a:p>
            <a:r>
              <a:rPr lang="zh-TW" altLang="en-US" sz="4000" b="1" dirty="0">
                <a:solidFill>
                  <a:srgbClr val="32CB58"/>
                </a:solidFill>
              </a:rPr>
              <a:t>行銷計畫</a:t>
            </a:r>
            <a:endParaRPr lang="en-US" altLang="zh-TW" sz="4000" b="1" dirty="0">
              <a:solidFill>
                <a:srgbClr val="32CB58"/>
              </a:solidFill>
            </a:endParaRPr>
          </a:p>
          <a:p>
            <a:r>
              <a:rPr lang="zh-TW" altLang="en-US" sz="4000" b="1" dirty="0">
                <a:solidFill>
                  <a:srgbClr val="A466D8"/>
                </a:solidFill>
              </a:rPr>
              <a:t>計畫總結</a:t>
            </a:r>
            <a:endParaRPr lang="en-US" altLang="zh-TW" sz="4000" b="1" dirty="0">
              <a:solidFill>
                <a:srgbClr val="A466D8"/>
              </a:solidFill>
            </a:endParaRPr>
          </a:p>
        </p:txBody>
      </p:sp>
      <p:grpSp>
        <p:nvGrpSpPr>
          <p:cNvPr id="23" name="群組 22"/>
          <p:cNvGrpSpPr/>
          <p:nvPr userDrawn="1"/>
        </p:nvGrpSpPr>
        <p:grpSpPr>
          <a:xfrm>
            <a:off x="408143" y="0"/>
            <a:ext cx="3218712" cy="1200329"/>
            <a:chOff x="408143" y="0"/>
            <a:chExt cx="3218712" cy="1200329"/>
          </a:xfrm>
        </p:grpSpPr>
        <p:sp>
          <p:nvSpPr>
            <p:cNvPr id="20" name="文字方塊 19"/>
            <p:cNvSpPr txBox="1"/>
            <p:nvPr userDrawn="1"/>
          </p:nvSpPr>
          <p:spPr>
            <a:xfrm>
              <a:off x="408143" y="0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7200" b="1" dirty="0">
                  <a:solidFill>
                    <a:srgbClr val="F8B70C"/>
                  </a:solidFill>
                </a:rPr>
                <a:t>02</a:t>
              </a:r>
              <a:endParaRPr lang="zh-TW" altLang="en-US" sz="7200" b="1" dirty="0">
                <a:solidFill>
                  <a:srgbClr val="F8B70C"/>
                </a:solidFill>
              </a:endParaRPr>
            </a:p>
          </p:txBody>
        </p:sp>
        <p:sp>
          <p:nvSpPr>
            <p:cNvPr id="22" name="文字方塊 21"/>
            <p:cNvSpPr txBox="1"/>
            <p:nvPr userDrawn="1"/>
          </p:nvSpPr>
          <p:spPr>
            <a:xfrm>
              <a:off x="1390345" y="347936"/>
              <a:ext cx="22365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4000" b="1" dirty="0">
                  <a:solidFill>
                    <a:srgbClr val="F8B70C"/>
                  </a:solidFill>
                </a:rPr>
                <a:t>架構設計</a:t>
              </a:r>
              <a:endParaRPr lang="en-US" altLang="zh-TW" sz="4000" b="1" dirty="0">
                <a:solidFill>
                  <a:srgbClr val="F8B70C"/>
                </a:solidFill>
              </a:endParaRPr>
            </a:p>
          </p:txBody>
        </p:sp>
      </p:grpSp>
      <p:sp>
        <p:nvSpPr>
          <p:cNvPr id="24" name="文字方塊 23"/>
          <p:cNvSpPr txBox="1"/>
          <p:nvPr userDrawn="1"/>
        </p:nvSpPr>
        <p:spPr>
          <a:xfrm>
            <a:off x="1434736" y="203429"/>
            <a:ext cx="848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PART TWO</a:t>
            </a:r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49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甜甜圈 10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7692000" y="-4500000"/>
            <a:ext cx="9000000" cy="9000000"/>
            <a:chOff x="3988526" y="1321526"/>
            <a:chExt cx="4214949" cy="4214949"/>
          </a:xfrm>
        </p:grpSpPr>
        <p:sp>
          <p:nvSpPr>
            <p:cNvPr id="8" name="橢圓 7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1C9F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1C9FCB"/>
            </a:solidFill>
            <a:ln>
              <a:noFill/>
            </a:ln>
            <a:effectLst>
              <a:outerShdw blurRad="457200" sx="102000" sy="102000" algn="ctr" rotWithShape="0">
                <a:schemeClr val="accent4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/>
          <p:cNvSpPr txBox="1"/>
          <p:nvPr userDrawn="1"/>
        </p:nvSpPr>
        <p:spPr>
          <a:xfrm>
            <a:off x="407988" y="528548"/>
            <a:ext cx="3215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 03</a:t>
            </a:r>
            <a:endParaRPr lang="zh-TW" altLang="en-US" sz="7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-2484136" y="4500000"/>
            <a:ext cx="9000000" cy="900000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1C9F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1C9FCB"/>
            </a:solidFill>
            <a:ln>
              <a:noFill/>
            </a:ln>
            <a:effectLst>
              <a:outerShdw blurRad="457200" sx="102000" sy="102000" algn="ctr" rotWithShape="0">
                <a:schemeClr val="accent4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6044959" y="4721905"/>
            <a:ext cx="5827236" cy="8556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>
                <a:solidFill>
                  <a:srgbClr val="E03E0D"/>
                </a:solidFill>
              </a:rPr>
              <a:t>計畫緣起</a:t>
            </a:r>
            <a:endParaRPr lang="en-US" altLang="zh-TW" sz="11000" b="1" dirty="0">
              <a:solidFill>
                <a:srgbClr val="E03E0D"/>
              </a:solidFill>
            </a:endParaRPr>
          </a:p>
          <a:p>
            <a:r>
              <a:rPr lang="zh-TW" altLang="en-US" sz="11000" b="1" dirty="0">
                <a:solidFill>
                  <a:srgbClr val="F8B70C"/>
                </a:solidFill>
              </a:rPr>
              <a:t>產業概況</a:t>
            </a:r>
            <a:endParaRPr lang="en-US" altLang="zh-TW" sz="11000" b="1" dirty="0">
              <a:solidFill>
                <a:srgbClr val="F8B70C"/>
              </a:solidFill>
            </a:endParaRPr>
          </a:p>
          <a:p>
            <a:r>
              <a:rPr lang="zh-TW" altLang="en-US" sz="11000" b="1" dirty="0">
                <a:solidFill>
                  <a:srgbClr val="1C9FCB"/>
                </a:solidFill>
              </a:rPr>
              <a:t>問卷分析</a:t>
            </a:r>
            <a:endParaRPr lang="en-US" altLang="zh-TW" sz="11000" b="1" dirty="0">
              <a:solidFill>
                <a:srgbClr val="1C9FCB"/>
              </a:solidFill>
            </a:endParaRPr>
          </a:p>
          <a:p>
            <a:r>
              <a:rPr lang="zh-TW" altLang="en-US" sz="11000" b="1" dirty="0">
                <a:solidFill>
                  <a:srgbClr val="32CB58"/>
                </a:solidFill>
              </a:rPr>
              <a:t>行銷計畫</a:t>
            </a:r>
            <a:endParaRPr lang="en-US" altLang="zh-TW" sz="11000" b="1" dirty="0">
              <a:solidFill>
                <a:srgbClr val="32CB58"/>
              </a:solidFill>
            </a:endParaRPr>
          </a:p>
          <a:p>
            <a:r>
              <a:rPr lang="zh-TW" altLang="en-US" sz="11000" b="1" dirty="0">
                <a:solidFill>
                  <a:srgbClr val="A466D8"/>
                </a:solidFill>
              </a:rPr>
              <a:t>計畫總結</a:t>
            </a:r>
            <a:endParaRPr lang="en-US" altLang="zh-TW" sz="11000" b="1" dirty="0">
              <a:solidFill>
                <a:srgbClr val="A466D8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21164" y="1671602"/>
            <a:ext cx="5827236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>
                <a:solidFill>
                  <a:srgbClr val="1C9FCB"/>
                </a:solidFill>
              </a:rPr>
              <a:t>核心特色</a:t>
            </a:r>
            <a:endParaRPr lang="en-US" altLang="zh-TW" sz="11000" b="1" dirty="0">
              <a:solidFill>
                <a:srgbClr val="1C9F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574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/>
      <p:bldP spid="17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接點 16"/>
          <p:cNvCxnSpPr/>
          <p:nvPr userDrawn="1"/>
        </p:nvCxnSpPr>
        <p:spPr>
          <a:xfrm>
            <a:off x="407988" y="6416674"/>
            <a:ext cx="11376025" cy="0"/>
          </a:xfrm>
          <a:prstGeom prst="line">
            <a:avLst/>
          </a:prstGeom>
          <a:ln>
            <a:solidFill>
              <a:srgbClr val="149C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 userDrawn="1"/>
        </p:nvGrpSpPr>
        <p:grpSpPr>
          <a:xfrm>
            <a:off x="3939150" y="-2164275"/>
            <a:ext cx="11186550" cy="11186550"/>
            <a:chOff x="3988526" y="1321526"/>
            <a:chExt cx="4214949" cy="4214949"/>
          </a:xfrm>
        </p:grpSpPr>
        <p:sp>
          <p:nvSpPr>
            <p:cNvPr id="9" name="橢圓 8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CDED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149CC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文字方塊 14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rgbClr val="FFFFFF"/>
                </a:solidFill>
              </a:rPr>
              <a:t>‹#›</a:t>
            </a:fld>
            <a:endParaRPr lang="zh-TW" altLang="en-US" sz="120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 userDrawn="1"/>
        </p:nvSpPr>
        <p:spPr>
          <a:xfrm>
            <a:off x="407987" y="1376363"/>
            <a:ext cx="11376025" cy="4897437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>
            <a:noFill/>
          </a:ln>
          <a:effectLst>
            <a:outerShdw blurRad="304800" sx="102000" sy="102000" algn="ctr" rotWithShape="0">
              <a:schemeClr val="accent4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甜甜圈 18"/>
          <p:cNvSpPr/>
          <p:nvPr userDrawn="1"/>
        </p:nvSpPr>
        <p:spPr>
          <a:xfrm>
            <a:off x="-1623873" y="-1252309"/>
            <a:ext cx="2561946" cy="2561946"/>
          </a:xfrm>
          <a:prstGeom prst="donut">
            <a:avLst>
              <a:gd name="adj" fmla="val 15772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1702637" y="-3240847"/>
            <a:ext cx="2236510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>
                <a:solidFill>
                  <a:srgbClr val="E03E0D"/>
                </a:solidFill>
              </a:rPr>
              <a:t>計畫緣起</a:t>
            </a:r>
            <a:endParaRPr lang="en-US" altLang="zh-TW" sz="4000" b="1" dirty="0">
              <a:solidFill>
                <a:srgbClr val="E03E0D"/>
              </a:solidFill>
            </a:endParaRPr>
          </a:p>
          <a:p>
            <a:r>
              <a:rPr lang="zh-TW" altLang="en-US" sz="4000" b="1" dirty="0">
                <a:solidFill>
                  <a:srgbClr val="F8B70C"/>
                </a:solidFill>
              </a:rPr>
              <a:t>產業概況</a:t>
            </a:r>
            <a:endParaRPr lang="en-US" altLang="zh-TW" sz="4000" b="1" dirty="0">
              <a:solidFill>
                <a:srgbClr val="F8B70C"/>
              </a:solidFill>
            </a:endParaRPr>
          </a:p>
          <a:p>
            <a:r>
              <a:rPr lang="zh-TW" altLang="en-US" sz="4000" b="1" dirty="0">
                <a:solidFill>
                  <a:srgbClr val="1C9FCB"/>
                </a:solidFill>
              </a:rPr>
              <a:t>問卷分析</a:t>
            </a:r>
            <a:endParaRPr lang="en-US" altLang="zh-TW" sz="4000" b="1" dirty="0">
              <a:solidFill>
                <a:srgbClr val="1C9FCB"/>
              </a:solidFill>
            </a:endParaRPr>
          </a:p>
          <a:p>
            <a:r>
              <a:rPr lang="zh-TW" altLang="en-US" sz="4000" b="1" dirty="0">
                <a:solidFill>
                  <a:srgbClr val="32CB58"/>
                </a:solidFill>
              </a:rPr>
              <a:t>行銷計畫</a:t>
            </a:r>
            <a:endParaRPr lang="en-US" altLang="zh-TW" sz="4000" b="1" dirty="0">
              <a:solidFill>
                <a:srgbClr val="32CB58"/>
              </a:solidFill>
            </a:endParaRPr>
          </a:p>
          <a:p>
            <a:r>
              <a:rPr lang="zh-TW" altLang="en-US" sz="4000" b="1" dirty="0">
                <a:solidFill>
                  <a:srgbClr val="A466D8"/>
                </a:solidFill>
              </a:rPr>
              <a:t>計畫總結</a:t>
            </a:r>
            <a:endParaRPr lang="en-US" altLang="zh-TW" sz="4000" b="1" dirty="0">
              <a:solidFill>
                <a:srgbClr val="A466D8"/>
              </a:solidFill>
            </a:endParaRPr>
          </a:p>
        </p:txBody>
      </p:sp>
      <p:grpSp>
        <p:nvGrpSpPr>
          <p:cNvPr id="23" name="群組 22"/>
          <p:cNvGrpSpPr/>
          <p:nvPr userDrawn="1"/>
        </p:nvGrpSpPr>
        <p:grpSpPr>
          <a:xfrm>
            <a:off x="408143" y="0"/>
            <a:ext cx="3218712" cy="1200329"/>
            <a:chOff x="408143" y="0"/>
            <a:chExt cx="3218712" cy="1200329"/>
          </a:xfrm>
        </p:grpSpPr>
        <p:sp>
          <p:nvSpPr>
            <p:cNvPr id="20" name="文字方塊 19"/>
            <p:cNvSpPr txBox="1"/>
            <p:nvPr userDrawn="1"/>
          </p:nvSpPr>
          <p:spPr>
            <a:xfrm>
              <a:off x="408143" y="0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7200" b="1" dirty="0">
                  <a:solidFill>
                    <a:srgbClr val="149CCA"/>
                  </a:solidFill>
                </a:rPr>
                <a:t>03</a:t>
              </a:r>
              <a:endParaRPr lang="zh-TW" altLang="en-US" sz="7200" b="1" dirty="0">
                <a:solidFill>
                  <a:srgbClr val="149CCA"/>
                </a:solidFill>
              </a:endParaRPr>
            </a:p>
          </p:txBody>
        </p:sp>
        <p:sp>
          <p:nvSpPr>
            <p:cNvPr id="22" name="文字方塊 21"/>
            <p:cNvSpPr txBox="1"/>
            <p:nvPr userDrawn="1"/>
          </p:nvSpPr>
          <p:spPr>
            <a:xfrm>
              <a:off x="1390345" y="347936"/>
              <a:ext cx="22365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4000" b="1" dirty="0">
                  <a:solidFill>
                    <a:srgbClr val="1C9FCB"/>
                  </a:solidFill>
                </a:rPr>
                <a:t>核心特色</a:t>
              </a:r>
              <a:endParaRPr lang="en-US" altLang="zh-TW" sz="4000" b="1" dirty="0">
                <a:solidFill>
                  <a:srgbClr val="1C9FCB"/>
                </a:solidFill>
              </a:endParaRPr>
            </a:p>
          </p:txBody>
        </p:sp>
      </p:grpSp>
      <p:sp>
        <p:nvSpPr>
          <p:cNvPr id="24" name="文字方塊 23"/>
          <p:cNvSpPr txBox="1"/>
          <p:nvPr userDrawn="1"/>
        </p:nvSpPr>
        <p:spPr>
          <a:xfrm>
            <a:off x="1434736" y="203429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PART THREE</a:t>
            </a:r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38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甜甜圈 10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7692000" y="-4500000"/>
            <a:ext cx="9000000" cy="9000000"/>
            <a:chOff x="3988526" y="1321526"/>
            <a:chExt cx="4214949" cy="4214949"/>
          </a:xfrm>
        </p:grpSpPr>
        <p:sp>
          <p:nvSpPr>
            <p:cNvPr id="8" name="橢圓 7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32CB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32CB58"/>
            </a:solidFill>
            <a:ln>
              <a:noFill/>
            </a:ln>
            <a:effectLst>
              <a:outerShdw blurRad="457200" sx="102000" sy="102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/>
          <p:cNvSpPr txBox="1"/>
          <p:nvPr userDrawn="1"/>
        </p:nvSpPr>
        <p:spPr>
          <a:xfrm>
            <a:off x="407988" y="528548"/>
            <a:ext cx="3215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 04</a:t>
            </a:r>
            <a:endParaRPr lang="zh-TW" altLang="en-US" sz="7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-2484136" y="4500000"/>
            <a:ext cx="9000000" cy="900000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32CB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32CB58"/>
            </a:solidFill>
            <a:ln>
              <a:noFill/>
            </a:ln>
            <a:effectLst>
              <a:outerShdw blurRad="457200" sx="102000" sy="102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6044959" y="4721905"/>
            <a:ext cx="5827236" cy="8556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>
                <a:solidFill>
                  <a:srgbClr val="E03E0D"/>
                </a:solidFill>
              </a:rPr>
              <a:t>計畫緣起</a:t>
            </a:r>
            <a:endParaRPr lang="en-US" altLang="zh-TW" sz="11000" b="1" dirty="0">
              <a:solidFill>
                <a:srgbClr val="E03E0D"/>
              </a:solidFill>
            </a:endParaRPr>
          </a:p>
          <a:p>
            <a:r>
              <a:rPr lang="zh-TW" altLang="en-US" sz="11000" b="1" dirty="0">
                <a:solidFill>
                  <a:srgbClr val="F8B70C"/>
                </a:solidFill>
              </a:rPr>
              <a:t>產業概況</a:t>
            </a:r>
            <a:endParaRPr lang="en-US" altLang="zh-TW" sz="11000" b="1" dirty="0">
              <a:solidFill>
                <a:srgbClr val="F8B70C"/>
              </a:solidFill>
            </a:endParaRPr>
          </a:p>
          <a:p>
            <a:r>
              <a:rPr lang="zh-TW" altLang="en-US" sz="11000" b="1" dirty="0">
                <a:solidFill>
                  <a:srgbClr val="1C9FCB"/>
                </a:solidFill>
              </a:rPr>
              <a:t>問卷分析</a:t>
            </a:r>
            <a:endParaRPr lang="en-US" altLang="zh-TW" sz="11000" b="1" dirty="0">
              <a:solidFill>
                <a:srgbClr val="1C9FCB"/>
              </a:solidFill>
            </a:endParaRPr>
          </a:p>
          <a:p>
            <a:r>
              <a:rPr lang="zh-TW" altLang="en-US" sz="11000" b="1" dirty="0">
                <a:solidFill>
                  <a:srgbClr val="32CB58"/>
                </a:solidFill>
              </a:rPr>
              <a:t>行銷計畫</a:t>
            </a:r>
            <a:endParaRPr lang="en-US" altLang="zh-TW" sz="11000" b="1" dirty="0">
              <a:solidFill>
                <a:srgbClr val="32CB58"/>
              </a:solidFill>
            </a:endParaRPr>
          </a:p>
          <a:p>
            <a:r>
              <a:rPr lang="zh-TW" altLang="en-US" sz="11000" b="1" dirty="0">
                <a:solidFill>
                  <a:srgbClr val="A466D8"/>
                </a:solidFill>
              </a:rPr>
              <a:t>計畫總結</a:t>
            </a:r>
            <a:endParaRPr lang="en-US" altLang="zh-TW" sz="11000" b="1" dirty="0">
              <a:solidFill>
                <a:srgbClr val="A466D8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21164" y="1671602"/>
            <a:ext cx="5827236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>
                <a:solidFill>
                  <a:srgbClr val="32CB58"/>
                </a:solidFill>
              </a:rPr>
              <a:t>程式生成</a:t>
            </a:r>
            <a:endParaRPr lang="en-US" altLang="zh-TW" sz="11000" b="1" dirty="0">
              <a:solidFill>
                <a:srgbClr val="32CB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44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/>
      <p:bldP spid="17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接點 16"/>
          <p:cNvCxnSpPr/>
          <p:nvPr userDrawn="1"/>
        </p:nvCxnSpPr>
        <p:spPr>
          <a:xfrm>
            <a:off x="407988" y="6416674"/>
            <a:ext cx="11376025" cy="0"/>
          </a:xfrm>
          <a:prstGeom prst="line">
            <a:avLst/>
          </a:prstGeom>
          <a:ln>
            <a:solidFill>
              <a:srgbClr val="32CB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 userDrawn="1"/>
        </p:nvGrpSpPr>
        <p:grpSpPr>
          <a:xfrm>
            <a:off x="3939150" y="-2164275"/>
            <a:ext cx="11186550" cy="11186550"/>
            <a:chOff x="3988526" y="1321526"/>
            <a:chExt cx="4214949" cy="4214949"/>
          </a:xfrm>
        </p:grpSpPr>
        <p:sp>
          <p:nvSpPr>
            <p:cNvPr id="9" name="橢圓 8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D5F4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32CB5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文字方塊 14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rgbClr val="FFFFFF"/>
                </a:solidFill>
              </a:rPr>
              <a:t>‹#›</a:t>
            </a:fld>
            <a:endParaRPr lang="zh-TW" altLang="en-US" sz="120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 userDrawn="1"/>
        </p:nvSpPr>
        <p:spPr>
          <a:xfrm>
            <a:off x="407987" y="1376363"/>
            <a:ext cx="11376025" cy="4897437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>
            <a:noFill/>
          </a:ln>
          <a:effectLst>
            <a:outerShdw blurRad="304800" sx="102000" sy="102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甜甜圈 18"/>
          <p:cNvSpPr/>
          <p:nvPr userDrawn="1"/>
        </p:nvSpPr>
        <p:spPr>
          <a:xfrm>
            <a:off x="-1623873" y="-1252309"/>
            <a:ext cx="2561946" cy="2561946"/>
          </a:xfrm>
          <a:prstGeom prst="donut">
            <a:avLst>
              <a:gd name="adj" fmla="val 15772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1702637" y="-3240847"/>
            <a:ext cx="2236510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>
                <a:solidFill>
                  <a:srgbClr val="E03E0D"/>
                </a:solidFill>
              </a:rPr>
              <a:t>計畫緣起</a:t>
            </a:r>
            <a:endParaRPr lang="en-US" altLang="zh-TW" sz="4000" b="1" dirty="0">
              <a:solidFill>
                <a:srgbClr val="E03E0D"/>
              </a:solidFill>
            </a:endParaRPr>
          </a:p>
          <a:p>
            <a:r>
              <a:rPr lang="zh-TW" altLang="en-US" sz="4000" b="1" dirty="0">
                <a:solidFill>
                  <a:srgbClr val="F8B70C"/>
                </a:solidFill>
              </a:rPr>
              <a:t>產業概況</a:t>
            </a:r>
            <a:endParaRPr lang="en-US" altLang="zh-TW" sz="4000" b="1" dirty="0">
              <a:solidFill>
                <a:srgbClr val="F8B70C"/>
              </a:solidFill>
            </a:endParaRPr>
          </a:p>
          <a:p>
            <a:r>
              <a:rPr lang="zh-TW" altLang="en-US" sz="4000" b="1" dirty="0">
                <a:solidFill>
                  <a:srgbClr val="1C9FCB"/>
                </a:solidFill>
              </a:rPr>
              <a:t>問卷分析</a:t>
            </a:r>
            <a:endParaRPr lang="en-US" altLang="zh-TW" sz="4000" b="1" dirty="0">
              <a:solidFill>
                <a:srgbClr val="1C9FCB"/>
              </a:solidFill>
            </a:endParaRPr>
          </a:p>
          <a:p>
            <a:r>
              <a:rPr lang="zh-TW" altLang="en-US" sz="4000" b="1" dirty="0">
                <a:solidFill>
                  <a:srgbClr val="32CB58"/>
                </a:solidFill>
              </a:rPr>
              <a:t>行銷計畫</a:t>
            </a:r>
            <a:endParaRPr lang="en-US" altLang="zh-TW" sz="4000" b="1" dirty="0">
              <a:solidFill>
                <a:srgbClr val="32CB58"/>
              </a:solidFill>
            </a:endParaRPr>
          </a:p>
          <a:p>
            <a:r>
              <a:rPr lang="zh-TW" altLang="en-US" sz="4000" b="1" dirty="0">
                <a:solidFill>
                  <a:srgbClr val="A466D8"/>
                </a:solidFill>
              </a:rPr>
              <a:t>計畫總結</a:t>
            </a:r>
            <a:endParaRPr lang="en-US" altLang="zh-TW" sz="4000" b="1" dirty="0">
              <a:solidFill>
                <a:srgbClr val="A466D8"/>
              </a:solidFill>
            </a:endParaRPr>
          </a:p>
        </p:txBody>
      </p:sp>
      <p:grpSp>
        <p:nvGrpSpPr>
          <p:cNvPr id="23" name="群組 22"/>
          <p:cNvGrpSpPr/>
          <p:nvPr userDrawn="1"/>
        </p:nvGrpSpPr>
        <p:grpSpPr>
          <a:xfrm>
            <a:off x="408143" y="0"/>
            <a:ext cx="3218712" cy="1200329"/>
            <a:chOff x="408143" y="0"/>
            <a:chExt cx="3218712" cy="1200329"/>
          </a:xfrm>
        </p:grpSpPr>
        <p:sp>
          <p:nvSpPr>
            <p:cNvPr id="20" name="文字方塊 19"/>
            <p:cNvSpPr txBox="1"/>
            <p:nvPr userDrawn="1"/>
          </p:nvSpPr>
          <p:spPr>
            <a:xfrm>
              <a:off x="408143" y="0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7200" b="1" dirty="0">
                  <a:solidFill>
                    <a:srgbClr val="32CB58"/>
                  </a:solidFill>
                </a:rPr>
                <a:t>04</a:t>
              </a:r>
              <a:endParaRPr lang="zh-TW" altLang="en-US" sz="7200" b="1" dirty="0">
                <a:solidFill>
                  <a:srgbClr val="32CB58"/>
                </a:solidFill>
              </a:endParaRPr>
            </a:p>
          </p:txBody>
        </p:sp>
        <p:sp>
          <p:nvSpPr>
            <p:cNvPr id="22" name="文字方塊 21"/>
            <p:cNvSpPr txBox="1"/>
            <p:nvPr userDrawn="1"/>
          </p:nvSpPr>
          <p:spPr>
            <a:xfrm>
              <a:off x="1390345" y="347936"/>
              <a:ext cx="22365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4000" b="1" dirty="0">
                  <a:solidFill>
                    <a:srgbClr val="32CB58"/>
                  </a:solidFill>
                </a:rPr>
                <a:t>程式生成</a:t>
              </a:r>
              <a:endParaRPr lang="en-US" altLang="zh-TW" sz="4000" b="1" dirty="0">
                <a:solidFill>
                  <a:srgbClr val="32CB58"/>
                </a:solidFill>
              </a:endParaRPr>
            </a:p>
          </p:txBody>
        </p:sp>
      </p:grpSp>
      <p:sp>
        <p:nvSpPr>
          <p:cNvPr id="24" name="文字方塊 23"/>
          <p:cNvSpPr txBox="1"/>
          <p:nvPr userDrawn="1"/>
        </p:nvSpPr>
        <p:spPr>
          <a:xfrm>
            <a:off x="1434736" y="203429"/>
            <a:ext cx="890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PART FOUR</a:t>
            </a:r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911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甜甜圈 10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7692000" y="-4500000"/>
            <a:ext cx="9000000" cy="9000000"/>
            <a:chOff x="3988526" y="1321526"/>
            <a:chExt cx="4214949" cy="4214949"/>
          </a:xfrm>
        </p:grpSpPr>
        <p:sp>
          <p:nvSpPr>
            <p:cNvPr id="8" name="橢圓 7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A365D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A365D8"/>
            </a:solidFill>
            <a:ln>
              <a:noFill/>
            </a:ln>
            <a:effectLst>
              <a:outerShdw blurRad="457200" sx="102000" sy="102000" algn="ctr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/>
          <p:cNvSpPr txBox="1"/>
          <p:nvPr userDrawn="1"/>
        </p:nvSpPr>
        <p:spPr>
          <a:xfrm>
            <a:off x="407988" y="528548"/>
            <a:ext cx="3215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 05</a:t>
            </a:r>
            <a:endParaRPr lang="zh-TW" altLang="en-US" sz="7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-2484136" y="4500000"/>
            <a:ext cx="9000000" cy="900000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A365D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A365D8"/>
            </a:solidFill>
            <a:ln>
              <a:noFill/>
            </a:ln>
            <a:effectLst>
              <a:outerShdw blurRad="457200" sx="102000" sy="102000" algn="ctr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6044959" y="4721905"/>
            <a:ext cx="5827236" cy="8556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>
                <a:solidFill>
                  <a:srgbClr val="E03E0D"/>
                </a:solidFill>
              </a:rPr>
              <a:t>計畫緣起</a:t>
            </a:r>
            <a:endParaRPr lang="en-US" altLang="zh-TW" sz="11000" b="1" dirty="0">
              <a:solidFill>
                <a:srgbClr val="E03E0D"/>
              </a:solidFill>
            </a:endParaRPr>
          </a:p>
          <a:p>
            <a:r>
              <a:rPr lang="zh-TW" altLang="en-US" sz="11000" b="1" dirty="0">
                <a:solidFill>
                  <a:srgbClr val="F8B70C"/>
                </a:solidFill>
              </a:rPr>
              <a:t>產業概況</a:t>
            </a:r>
            <a:endParaRPr lang="en-US" altLang="zh-TW" sz="11000" b="1" dirty="0">
              <a:solidFill>
                <a:srgbClr val="F8B70C"/>
              </a:solidFill>
            </a:endParaRPr>
          </a:p>
          <a:p>
            <a:r>
              <a:rPr lang="zh-TW" altLang="en-US" sz="11000" b="1" dirty="0">
                <a:solidFill>
                  <a:srgbClr val="1C9FCB"/>
                </a:solidFill>
              </a:rPr>
              <a:t>問卷分析</a:t>
            </a:r>
            <a:endParaRPr lang="en-US" altLang="zh-TW" sz="11000" b="1" dirty="0">
              <a:solidFill>
                <a:srgbClr val="1C9FCB"/>
              </a:solidFill>
            </a:endParaRPr>
          </a:p>
          <a:p>
            <a:r>
              <a:rPr lang="zh-TW" altLang="en-US" sz="11000" b="1" dirty="0">
                <a:solidFill>
                  <a:srgbClr val="32CB58"/>
                </a:solidFill>
              </a:rPr>
              <a:t>行銷計畫</a:t>
            </a:r>
            <a:endParaRPr lang="en-US" altLang="zh-TW" sz="11000" b="1" dirty="0">
              <a:solidFill>
                <a:srgbClr val="32CB58"/>
              </a:solidFill>
            </a:endParaRPr>
          </a:p>
          <a:p>
            <a:r>
              <a:rPr lang="zh-TW" altLang="en-US" sz="11000" b="1" dirty="0">
                <a:solidFill>
                  <a:srgbClr val="A466D8"/>
                </a:solidFill>
              </a:rPr>
              <a:t>計畫總結</a:t>
            </a:r>
            <a:endParaRPr lang="en-US" altLang="zh-TW" sz="11000" b="1" dirty="0">
              <a:solidFill>
                <a:srgbClr val="A466D8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21164" y="1671602"/>
            <a:ext cx="5827236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>
                <a:solidFill>
                  <a:srgbClr val="A466D8"/>
                </a:solidFill>
              </a:rPr>
              <a:t>未來展望</a:t>
            </a:r>
            <a:endParaRPr lang="en-US" altLang="zh-TW" sz="11000" b="1" dirty="0">
              <a:solidFill>
                <a:srgbClr val="A466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58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/>
      <p:bldP spid="17" grpId="0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接點 16"/>
          <p:cNvCxnSpPr/>
          <p:nvPr userDrawn="1"/>
        </p:nvCxnSpPr>
        <p:spPr>
          <a:xfrm>
            <a:off x="407988" y="6416674"/>
            <a:ext cx="11376025" cy="0"/>
          </a:xfrm>
          <a:prstGeom prst="line">
            <a:avLst/>
          </a:prstGeom>
          <a:ln>
            <a:solidFill>
              <a:srgbClr val="A466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 userDrawn="1"/>
        </p:nvGrpSpPr>
        <p:grpSpPr>
          <a:xfrm>
            <a:off x="3939150" y="-2164275"/>
            <a:ext cx="11186550" cy="11186550"/>
            <a:chOff x="3988526" y="1321526"/>
            <a:chExt cx="4214949" cy="4214949"/>
          </a:xfrm>
        </p:grpSpPr>
        <p:sp>
          <p:nvSpPr>
            <p:cNvPr id="9" name="橢圓 8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ECE0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A466D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文字方塊 14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rgbClr val="FFFFFF"/>
                </a:solidFill>
              </a:rPr>
              <a:t>‹#›</a:t>
            </a:fld>
            <a:endParaRPr lang="zh-TW" altLang="en-US" sz="120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 userDrawn="1"/>
        </p:nvSpPr>
        <p:spPr>
          <a:xfrm>
            <a:off x="407987" y="1376363"/>
            <a:ext cx="11376025" cy="4897437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>
            <a:noFill/>
          </a:ln>
          <a:effectLst>
            <a:outerShdw blurRad="304800" sx="102000" sy="102000" algn="ctr" rotWithShape="0">
              <a:schemeClr val="accent5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甜甜圈 18"/>
          <p:cNvSpPr/>
          <p:nvPr userDrawn="1"/>
        </p:nvSpPr>
        <p:spPr>
          <a:xfrm>
            <a:off x="-1623873" y="-1252309"/>
            <a:ext cx="2561946" cy="2561946"/>
          </a:xfrm>
          <a:prstGeom prst="donut">
            <a:avLst>
              <a:gd name="adj" fmla="val 15772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1702637" y="-3240847"/>
            <a:ext cx="2236510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>
                <a:solidFill>
                  <a:srgbClr val="E03E0D"/>
                </a:solidFill>
              </a:rPr>
              <a:t>計畫緣起</a:t>
            </a:r>
            <a:endParaRPr lang="en-US" altLang="zh-TW" sz="4000" b="1" dirty="0">
              <a:solidFill>
                <a:srgbClr val="E03E0D"/>
              </a:solidFill>
            </a:endParaRPr>
          </a:p>
          <a:p>
            <a:r>
              <a:rPr lang="zh-TW" altLang="en-US" sz="4000" b="1" dirty="0">
                <a:solidFill>
                  <a:srgbClr val="F8B70C"/>
                </a:solidFill>
              </a:rPr>
              <a:t>產業概況</a:t>
            </a:r>
            <a:endParaRPr lang="en-US" altLang="zh-TW" sz="4000" b="1" dirty="0">
              <a:solidFill>
                <a:srgbClr val="F8B70C"/>
              </a:solidFill>
            </a:endParaRPr>
          </a:p>
          <a:p>
            <a:r>
              <a:rPr lang="zh-TW" altLang="en-US" sz="4000" b="1" dirty="0">
                <a:solidFill>
                  <a:srgbClr val="1C9FCB"/>
                </a:solidFill>
              </a:rPr>
              <a:t>問卷分析</a:t>
            </a:r>
            <a:endParaRPr lang="en-US" altLang="zh-TW" sz="4000" b="1" dirty="0">
              <a:solidFill>
                <a:srgbClr val="1C9FCB"/>
              </a:solidFill>
            </a:endParaRPr>
          </a:p>
          <a:p>
            <a:r>
              <a:rPr lang="zh-TW" altLang="en-US" sz="4000" b="1" dirty="0">
                <a:solidFill>
                  <a:srgbClr val="32CB58"/>
                </a:solidFill>
              </a:rPr>
              <a:t>行銷計畫</a:t>
            </a:r>
            <a:endParaRPr lang="en-US" altLang="zh-TW" sz="4000" b="1" dirty="0">
              <a:solidFill>
                <a:srgbClr val="32CB58"/>
              </a:solidFill>
            </a:endParaRPr>
          </a:p>
          <a:p>
            <a:r>
              <a:rPr lang="zh-TW" altLang="en-US" sz="4000" b="1" dirty="0">
                <a:solidFill>
                  <a:srgbClr val="A466D8"/>
                </a:solidFill>
              </a:rPr>
              <a:t>計畫總結</a:t>
            </a:r>
            <a:endParaRPr lang="en-US" altLang="zh-TW" sz="4000" b="1" dirty="0">
              <a:solidFill>
                <a:srgbClr val="A466D8"/>
              </a:solidFill>
            </a:endParaRPr>
          </a:p>
        </p:txBody>
      </p:sp>
      <p:grpSp>
        <p:nvGrpSpPr>
          <p:cNvPr id="23" name="群組 22"/>
          <p:cNvGrpSpPr/>
          <p:nvPr userDrawn="1"/>
        </p:nvGrpSpPr>
        <p:grpSpPr>
          <a:xfrm>
            <a:off x="408143" y="0"/>
            <a:ext cx="3218712" cy="1200329"/>
            <a:chOff x="408143" y="0"/>
            <a:chExt cx="3218712" cy="1200329"/>
          </a:xfrm>
        </p:grpSpPr>
        <p:sp>
          <p:nvSpPr>
            <p:cNvPr id="20" name="文字方塊 19"/>
            <p:cNvSpPr txBox="1"/>
            <p:nvPr userDrawn="1"/>
          </p:nvSpPr>
          <p:spPr>
            <a:xfrm>
              <a:off x="408143" y="0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7200" b="1" dirty="0">
                  <a:solidFill>
                    <a:srgbClr val="A466D8"/>
                  </a:solidFill>
                </a:rPr>
                <a:t>05</a:t>
              </a:r>
              <a:endParaRPr lang="zh-TW" altLang="en-US" sz="7200" b="1" dirty="0">
                <a:solidFill>
                  <a:srgbClr val="A466D8"/>
                </a:solidFill>
              </a:endParaRPr>
            </a:p>
          </p:txBody>
        </p:sp>
        <p:sp>
          <p:nvSpPr>
            <p:cNvPr id="22" name="文字方塊 21"/>
            <p:cNvSpPr txBox="1"/>
            <p:nvPr userDrawn="1"/>
          </p:nvSpPr>
          <p:spPr>
            <a:xfrm>
              <a:off x="1390345" y="347936"/>
              <a:ext cx="22365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4000" b="1" dirty="0">
                  <a:solidFill>
                    <a:srgbClr val="A466D8"/>
                  </a:solidFill>
                </a:rPr>
                <a:t>未來展望</a:t>
              </a:r>
              <a:endParaRPr lang="en-US" altLang="zh-TW" sz="4000" b="1" dirty="0">
                <a:solidFill>
                  <a:srgbClr val="A466D8"/>
                </a:solidFill>
              </a:endParaRPr>
            </a:p>
          </p:txBody>
        </p:sp>
      </p:grpSp>
      <p:sp>
        <p:nvSpPr>
          <p:cNvPr id="24" name="文字方塊 23"/>
          <p:cNvSpPr txBox="1"/>
          <p:nvPr userDrawn="1"/>
        </p:nvSpPr>
        <p:spPr>
          <a:xfrm>
            <a:off x="1434736" y="203429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PART FIVE</a:t>
            </a:r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895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44572" y="1320799"/>
            <a:ext cx="4412343" cy="368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2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3515806" y="5029200"/>
            <a:ext cx="45961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智慧    效率    彈性</a:t>
            </a:r>
          </a:p>
        </p:txBody>
      </p:sp>
      <p:sp>
        <p:nvSpPr>
          <p:cNvPr id="6" name="橢圓 5"/>
          <p:cNvSpPr/>
          <p:nvPr/>
        </p:nvSpPr>
        <p:spPr>
          <a:xfrm>
            <a:off x="2959100" y="5156200"/>
            <a:ext cx="914400" cy="914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289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48148E-6 L 0.37695 0.00509 " pathEditMode="relative" rAng="0" ptsTypes="AA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41" y="25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6" grpId="1" animBg="1"/>
      <p:bldP spid="6" grpId="2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8911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407988" y="3429000"/>
            <a:ext cx="1460570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專題動機</a:t>
            </a:r>
          </a:p>
        </p:txBody>
      </p:sp>
      <p:sp>
        <p:nvSpPr>
          <p:cNvPr id="3" name="圓角矩形 1">
            <a:extLst>
              <a:ext uri="{FF2B5EF4-FFF2-40B4-BE49-F238E27FC236}">
                <a16:creationId xmlns:a16="http://schemas.microsoft.com/office/drawing/2014/main" id="{E6701B53-7915-413C-A302-AD6CD9E464F3}"/>
              </a:ext>
            </a:extLst>
          </p:cNvPr>
          <p:cNvSpPr/>
          <p:nvPr/>
        </p:nvSpPr>
        <p:spPr>
          <a:xfrm>
            <a:off x="2139134" y="3429000"/>
            <a:ext cx="1460570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問題背景</a:t>
            </a:r>
          </a:p>
        </p:txBody>
      </p:sp>
    </p:spTree>
    <p:extLst>
      <p:ext uri="{BB962C8B-B14F-4D97-AF65-F5344CB8AC3E}">
        <p14:creationId xmlns:p14="http://schemas.microsoft.com/office/powerpoint/2010/main" val="249444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755432" y="2132418"/>
            <a:ext cx="6057976" cy="3564405"/>
            <a:chOff x="6338829" y="2452629"/>
            <a:chExt cx="6057976" cy="3564405"/>
          </a:xfrm>
        </p:grpSpPr>
        <p:sp>
          <p:nvSpPr>
            <p:cNvPr id="3" name="橢圓 2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" name="文字方塊 3"/>
            <p:cNvSpPr txBox="1"/>
            <p:nvPr/>
          </p:nvSpPr>
          <p:spPr>
            <a:xfrm>
              <a:off x="6348354" y="2477604"/>
              <a:ext cx="6048451" cy="35394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因應老師的要求，我們的作品需要結</a:t>
              </a:r>
              <a:endParaRPr lang="en-US" altLang="zh-TW" sz="2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合前端、後端與 </a:t>
              </a:r>
              <a:r>
                <a:rPr lang="en-US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AI 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技術，並與資工系</a:t>
              </a:r>
              <a:endParaRPr lang="en-US" altLang="zh-TW" sz="2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專業相關。提到資工系，多數人會聯</a:t>
              </a:r>
              <a:endParaRPr lang="en-US" altLang="zh-TW" sz="2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想到程式碼或硬體設備，而在</a:t>
              </a:r>
              <a:r>
                <a:rPr lang="en-US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AI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領域</a:t>
              </a:r>
              <a:endParaRPr lang="en-US" altLang="zh-TW" sz="2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中，與程式最密切的應用便是「程式</a:t>
              </a:r>
              <a:endParaRPr lang="en-US" altLang="zh-TW" sz="2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碼生成」。因此，我們選擇以「程式</a:t>
              </a:r>
              <a:endParaRPr lang="en-US" altLang="zh-TW" sz="2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碼生成器」作為專題方向，既能展現</a:t>
              </a:r>
              <a:endParaRPr lang="en-US" altLang="zh-TW" sz="2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資工專業，也符合</a:t>
              </a:r>
              <a:r>
                <a:rPr lang="en-US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AI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整合的需求。</a:t>
              </a: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7136133" y="2582418"/>
            <a:ext cx="3991705" cy="2333299"/>
            <a:chOff x="6338829" y="2452629"/>
            <a:chExt cx="3991705" cy="2333299"/>
          </a:xfrm>
        </p:grpSpPr>
        <p:sp>
          <p:nvSpPr>
            <p:cNvPr id="25" name="橢圓 24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rgbClr val="FDD5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6348354" y="2477604"/>
              <a:ext cx="3982180" cy="2308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3600" b="1" dirty="0">
                  <a:solidFill>
                    <a:srgbClr val="E03E0D"/>
                  </a:solidFill>
                </a:rPr>
                <a:t>「程式碼生成器」</a:t>
              </a:r>
              <a:endParaRPr lang="en-US" altLang="zh-TW" sz="3600" b="1" dirty="0">
                <a:solidFill>
                  <a:srgbClr val="E03E0D"/>
                </a:solidFill>
              </a:endParaRPr>
            </a:p>
            <a:p>
              <a:r>
                <a:rPr lang="zh-TW" altLang="en-US" sz="3600" b="1" dirty="0">
                  <a:solidFill>
                    <a:srgbClr val="E03E0D"/>
                  </a:solidFill>
                </a:rPr>
                <a:t>結合資工專業與 </a:t>
              </a:r>
              <a:r>
                <a:rPr lang="en-US" altLang="zh-TW" sz="3600" b="1" dirty="0">
                  <a:solidFill>
                    <a:srgbClr val="E03E0D"/>
                  </a:solidFill>
                </a:rPr>
                <a:t>AI</a:t>
              </a:r>
            </a:p>
            <a:p>
              <a:r>
                <a:rPr lang="en-US" altLang="zh-TW" sz="3600" b="1" dirty="0">
                  <a:solidFill>
                    <a:srgbClr val="E03E0D"/>
                  </a:solidFill>
                </a:rPr>
                <a:t> </a:t>
              </a:r>
              <a:r>
                <a:rPr lang="zh-TW" altLang="en-US" sz="3600" b="1" dirty="0">
                  <a:solidFill>
                    <a:srgbClr val="E03E0D"/>
                  </a:solidFill>
                </a:rPr>
                <a:t>技術，展現前後端</a:t>
              </a:r>
              <a:endParaRPr lang="en-US" altLang="zh-TW" sz="3600" b="1" dirty="0">
                <a:solidFill>
                  <a:srgbClr val="E03E0D"/>
                </a:solidFill>
              </a:endParaRPr>
            </a:p>
            <a:p>
              <a:r>
                <a:rPr lang="zh-TW" altLang="en-US" sz="3600" b="1" dirty="0">
                  <a:solidFill>
                    <a:srgbClr val="E03E0D"/>
                  </a:solidFill>
                </a:rPr>
                <a:t>整合的實用應用</a:t>
              </a:r>
            </a:p>
          </p:txBody>
        </p:sp>
      </p:grpSp>
      <p:sp>
        <p:nvSpPr>
          <p:cNvPr id="27" name="矩形 26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專題動機</a:t>
            </a:r>
          </a:p>
        </p:txBody>
      </p:sp>
    </p:spTree>
    <p:extLst>
      <p:ext uri="{BB962C8B-B14F-4D97-AF65-F5344CB8AC3E}">
        <p14:creationId xmlns:p14="http://schemas.microsoft.com/office/powerpoint/2010/main" val="175830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593930" y="1910477"/>
            <a:ext cx="11464905" cy="3256629"/>
            <a:chOff x="6338829" y="2452629"/>
            <a:chExt cx="11464905" cy="3256629"/>
          </a:xfrm>
        </p:grpSpPr>
        <p:sp>
          <p:nvSpPr>
            <p:cNvPr id="3" name="橢圓 2"/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" name="文字方塊 3"/>
            <p:cNvSpPr txBox="1"/>
            <p:nvPr/>
          </p:nvSpPr>
          <p:spPr>
            <a:xfrm>
              <a:off x="6348354" y="2477604"/>
              <a:ext cx="11455380" cy="32316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600" b="1" dirty="0">
                  <a:solidFill>
                    <a:srgbClr val="E03E0D"/>
                  </a:solidFill>
                </a:rPr>
                <a:t>開發時遇到的問題</a:t>
              </a:r>
              <a:endParaRPr lang="en-US" altLang="zh-TW" sz="3600" b="1" dirty="0">
                <a:solidFill>
                  <a:srgbClr val="E03E0D"/>
                </a:solidFill>
              </a:endParaRPr>
            </a:p>
            <a:p>
              <a:pPr marL="457200" lvl="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TW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開發者在撰寫重複性程式碼時效率低。</a:t>
              </a:r>
            </a:p>
            <a:p>
              <a:pPr marL="457200" lvl="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TW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現有程式碼生成工具使用上可能不夠直覺或實用。</a:t>
              </a:r>
            </a:p>
            <a:p>
              <a:pPr marL="457200" lvl="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TW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AI 在程式碼生成上的應用雖普及，但正確性與易用性仍有改進空間。</a:t>
              </a:r>
            </a:p>
            <a:p>
              <a:pPr marL="457200" lvl="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TW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多數程式碼生成工具缺乏與前後端整合的完整解決方案。</a:t>
              </a:r>
            </a:p>
            <a:p>
              <a:pPr marL="457200" lvl="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TW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開發者在調試或修改自動生成的程式碼時仍需耗費大量時間。</a:t>
              </a:r>
            </a:p>
            <a:p>
              <a:pPr marL="457200" lvl="0" indent="-45720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l"/>
              </a:pPr>
              <a:r>
                <a:rPr lang="zh-TW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現有工具對特定語言或框架的支援不夠全面。</a:t>
              </a:r>
            </a:p>
          </p:txBody>
        </p:sp>
      </p:grpSp>
      <p:sp>
        <p:nvSpPr>
          <p:cNvPr id="27" name="矩形 26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問題背景</a:t>
            </a:r>
          </a:p>
        </p:txBody>
      </p:sp>
    </p:spTree>
    <p:extLst>
      <p:ext uri="{BB962C8B-B14F-4D97-AF65-F5344CB8AC3E}">
        <p14:creationId xmlns:p14="http://schemas.microsoft.com/office/powerpoint/2010/main" val="86289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407988" y="3429000"/>
            <a:ext cx="1460570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8B7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系統流程</a:t>
            </a:r>
          </a:p>
        </p:txBody>
      </p:sp>
      <p:sp>
        <p:nvSpPr>
          <p:cNvPr id="3" name="圓角矩形 1">
            <a:extLst>
              <a:ext uri="{FF2B5EF4-FFF2-40B4-BE49-F238E27FC236}">
                <a16:creationId xmlns:a16="http://schemas.microsoft.com/office/drawing/2014/main" id="{3E899789-BA29-4498-A197-29022D28160F}"/>
              </a:ext>
            </a:extLst>
          </p:cNvPr>
          <p:cNvSpPr/>
          <p:nvPr/>
        </p:nvSpPr>
        <p:spPr>
          <a:xfrm>
            <a:off x="2219033" y="3429000"/>
            <a:ext cx="1460570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8B7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前後端架構</a:t>
            </a:r>
          </a:p>
        </p:txBody>
      </p:sp>
      <p:sp>
        <p:nvSpPr>
          <p:cNvPr id="4" name="圓角矩形 1">
            <a:extLst>
              <a:ext uri="{FF2B5EF4-FFF2-40B4-BE49-F238E27FC236}">
                <a16:creationId xmlns:a16="http://schemas.microsoft.com/office/drawing/2014/main" id="{91FA55B8-C5C7-4E84-8F35-8409817EA316}"/>
              </a:ext>
            </a:extLst>
          </p:cNvPr>
          <p:cNvSpPr/>
          <p:nvPr/>
        </p:nvSpPr>
        <p:spPr>
          <a:xfrm>
            <a:off x="4030078" y="3429000"/>
            <a:ext cx="1460570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8B7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API</a:t>
            </a:r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42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系統流程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044F24C1-275D-47C0-A411-CEA6C21BCB42}"/>
              </a:ext>
            </a:extLst>
          </p:cNvPr>
          <p:cNvGrpSpPr/>
          <p:nvPr/>
        </p:nvGrpSpPr>
        <p:grpSpPr>
          <a:xfrm>
            <a:off x="784430" y="1559957"/>
            <a:ext cx="9017119" cy="4179959"/>
            <a:chOff x="6338829" y="2452629"/>
            <a:chExt cx="9017119" cy="4179959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4A0BD6FE-019A-4DF6-975B-69FB51F534E6}"/>
                </a:ext>
              </a:extLst>
            </p:cNvPr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dirty="0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ADC8DDA6-5581-487E-B62B-6645D6BC9BA4}"/>
                </a:ext>
              </a:extLst>
            </p:cNvPr>
            <p:cNvSpPr txBox="1"/>
            <p:nvPr/>
          </p:nvSpPr>
          <p:spPr>
            <a:xfrm>
              <a:off x="6348354" y="2477604"/>
              <a:ext cx="9007594" cy="4154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1.</a:t>
              </a:r>
              <a:r>
                <a:rPr lang="zh-TW" altLang="en-US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  </a:t>
              </a:r>
              <a:r>
                <a:rPr lang="zh-TW" altLang="zh-TW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使用者輸入需求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dirty="0">
                  <a:latin typeface="Arial" panose="020B0604020202020204" pitchFamily="34" charset="0"/>
                </a:rPr>
                <a:t>	</a:t>
              </a:r>
              <a:r>
                <a:rPr lang="zh-TW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在前端介面輸入程式需求描述，選擇程式語言，可選填測試輸入。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2.</a:t>
              </a:r>
              <a:r>
                <a:rPr lang="zh-TW" altLang="en-US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  </a:t>
              </a:r>
              <a:r>
                <a:rPr lang="zh-TW" altLang="zh-TW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程式分類與模板匹配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dirty="0">
                  <a:latin typeface="Arial" panose="020B0604020202020204" pitchFamily="34" charset="0"/>
                </a:rPr>
                <a:t>	</a:t>
              </a:r>
              <a:r>
                <a:rPr lang="zh-TW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系統自動分析需求，分類課程或演算法類型（如 BFS、DFS、Dijkstra 等）。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	</a:t>
              </a:r>
              <a:r>
                <a:rPr lang="zh-TW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根據分類選擇對應的程式碼模板。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3.</a:t>
              </a:r>
              <a:r>
                <a:rPr lang="zh-TW" altLang="en-US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  </a:t>
              </a:r>
              <a:r>
                <a:rPr lang="zh-TW" altLang="zh-TW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AI 生成程式碼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dirty="0">
                  <a:latin typeface="Arial" panose="020B0604020202020204" pitchFamily="34" charset="0"/>
                </a:rPr>
                <a:t>	</a:t>
              </a:r>
              <a:r>
                <a:rPr lang="zh-TW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使用 GPT 生成完整程式碼，包含時間與空間複雜度分析及簡要說明。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4.</a:t>
              </a:r>
              <a:r>
                <a:rPr lang="zh-TW" altLang="en-US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  </a:t>
              </a:r>
              <a:r>
                <a:rPr lang="zh-TW" altLang="zh-TW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程式碼檢查與優化建議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dirty="0">
                  <a:latin typeface="Arial" panose="020B0604020202020204" pitchFamily="34" charset="0"/>
                </a:rPr>
                <a:t>	</a:t>
              </a:r>
              <a:r>
                <a:rPr lang="zh-TW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語法檢查（Lint），提供可讀性與優化建議。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5.</a:t>
              </a:r>
              <a:r>
                <a:rPr lang="zh-TW" altLang="en-US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  </a:t>
              </a:r>
              <a:r>
                <a:rPr lang="zh-TW" altLang="zh-TW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程式碼執行與模擬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dirty="0">
                  <a:latin typeface="Arial" panose="020B0604020202020204" pitchFamily="34" charset="0"/>
                </a:rPr>
                <a:t>	</a:t>
              </a:r>
              <a:r>
                <a:rPr lang="zh-TW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GPT 模擬程式執行結果。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	</a:t>
              </a:r>
              <a:r>
                <a:rPr lang="zh-TW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JDoodle API 真正執行程式碼，返回實際輸出結果。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6.</a:t>
              </a:r>
              <a:r>
                <a:rPr lang="zh-TW" altLang="en-US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  </a:t>
              </a:r>
              <a:r>
                <a:rPr lang="zh-TW" altLang="zh-TW" sz="20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結果回傳前端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dirty="0">
                  <a:latin typeface="Arial" panose="020B0604020202020204" pitchFamily="34" charset="0"/>
                </a:rPr>
                <a:t>	</a:t>
              </a:r>
              <a:r>
                <a:rPr lang="zh-TW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將生成程式碼、複雜度分析、優化建議及測試輸出顯示給使用者。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860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9376204" y="374983"/>
            <a:ext cx="24929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前後端架構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044F24C1-275D-47C0-A411-CEA6C21BCB42}"/>
              </a:ext>
            </a:extLst>
          </p:cNvPr>
          <p:cNvGrpSpPr/>
          <p:nvPr/>
        </p:nvGrpSpPr>
        <p:grpSpPr>
          <a:xfrm>
            <a:off x="784430" y="1559957"/>
            <a:ext cx="9350544" cy="4226125"/>
            <a:chOff x="6338829" y="2452629"/>
            <a:chExt cx="9350544" cy="4226125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4A0BD6FE-019A-4DF6-975B-69FB51F534E6}"/>
                </a:ext>
              </a:extLst>
            </p:cNvPr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dirty="0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ADC8DDA6-5581-487E-B62B-6645D6BC9BA4}"/>
                </a:ext>
              </a:extLst>
            </p:cNvPr>
            <p:cNvSpPr txBox="1"/>
            <p:nvPr/>
          </p:nvSpPr>
          <p:spPr>
            <a:xfrm>
              <a:off x="6348354" y="2477604"/>
              <a:ext cx="9341019" cy="42011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7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1.  </a:t>
              </a:r>
              <a:r>
                <a:rPr lang="zh-TW" altLang="en-US" sz="17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前端（使用者介面）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	</a:t>
              </a: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技術：</a:t>
              </a: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HTML</a:t>
              </a: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CSS</a:t>
              </a: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JavaScript</a:t>
              </a: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Flask Templates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	</a:t>
              </a: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功能：接收使用者需求描述、程式語言選擇與測試輸入</a:t>
              </a:r>
              <a:endParaRPr lang="en-US" altLang="zh-TW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            	           </a:t>
              </a: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顯示生成程式碼、時間複雜度、優化</a:t>
              </a:r>
              <a:endParaRPr lang="en-US" altLang="zh-TW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            </a:t>
              </a: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	           </a:t>
              </a: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建議與執行結果提供程式碼複製功能</a:t>
              </a:r>
            </a:p>
            <a:p>
              <a:r>
                <a:rPr lang="en-US" altLang="zh-TW" sz="17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2.  </a:t>
              </a:r>
              <a:r>
                <a:rPr lang="zh-TW" altLang="en-US" sz="17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後端（伺服器邏輯）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	</a:t>
              </a: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技術：</a:t>
              </a: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Python</a:t>
              </a: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Flask</a:t>
              </a: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TW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OpenAI</a:t>
              </a: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API</a:t>
              </a: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TW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JDoodle</a:t>
              </a: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API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	</a:t>
              </a: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功能：需求分類與模板匹配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                        調用 </a:t>
              </a: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GPT </a:t>
              </a: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生成程式碼 </a:t>
              </a: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JSON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                        語法檢查與優化建議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                        GPT </a:t>
              </a: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模擬執行程式碼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                       </a:t>
              </a:r>
              <a:r>
                <a:rPr lang="en-US" altLang="zh-TW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JDoodle</a:t>
              </a: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真實執行程式碼與回傳結果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                       配額控制與紀錄每日 </a:t>
              </a:r>
              <a:r>
                <a:rPr lang="en-US" altLang="zh-TW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JDoodle</a:t>
              </a: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API </a:t>
              </a: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使用次數</a:t>
              </a:r>
            </a:p>
            <a:p>
              <a:r>
                <a:rPr lang="en-US" altLang="zh-TW" sz="17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3.  </a:t>
              </a:r>
              <a:r>
                <a:rPr lang="zh-TW" altLang="en-US" sz="1700" b="1" dirty="0">
                  <a:solidFill>
                    <a:srgbClr val="F8B70C"/>
                  </a:solidFill>
                  <a:latin typeface="Arial" panose="020B0604020202020204" pitchFamily="34" charset="0"/>
                </a:rPr>
                <a:t>資料流簡述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使用者 → 前端 → 後端處理 → </a:t>
              </a:r>
              <a:r>
                <a:rPr lang="en-US" altLang="zh-TW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GPT </a:t>
              </a:r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生成程式碼 → 模擬與執行 → 結果回傳前端 → 使用者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7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1035311" y="374983"/>
            <a:ext cx="8338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TW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API</a:t>
            </a:r>
            <a:endParaRPr lang="zh-TW" altLang="en-US" sz="3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B00C3B08-55F0-43FE-8D45-2C554FF04F80}"/>
              </a:ext>
            </a:extLst>
          </p:cNvPr>
          <p:cNvGrpSpPr/>
          <p:nvPr/>
        </p:nvGrpSpPr>
        <p:grpSpPr>
          <a:xfrm>
            <a:off x="707807" y="1789518"/>
            <a:ext cx="10966371" cy="3564405"/>
            <a:chOff x="6338829" y="2452629"/>
            <a:chExt cx="10966371" cy="3564405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30122278-F9F0-4F74-9B24-51D0D2BA6549}"/>
                </a:ext>
              </a:extLst>
            </p:cNvPr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93E31F15-D162-4465-952A-C58AA31DAD72}"/>
                </a:ext>
              </a:extLst>
            </p:cNvPr>
            <p:cNvSpPr txBox="1"/>
            <p:nvPr/>
          </p:nvSpPr>
          <p:spPr>
            <a:xfrm>
              <a:off x="6348354" y="2477604"/>
              <a:ext cx="10956846" cy="35394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本系統主要整合兩大 </a:t>
              </a:r>
              <a:r>
                <a:rPr lang="en-US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API 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以實現智慧程式碼生成與執行功能。</a:t>
              </a:r>
              <a:endParaRPr lang="en-US" altLang="zh-TW" sz="2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首先，</a:t>
              </a:r>
              <a:r>
                <a:rPr lang="en-US" altLang="zh-TW" sz="28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OpenAI</a:t>
              </a:r>
              <a:r>
                <a:rPr lang="en-US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API 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用於分析使用者需求、選擇合適模板，並生</a:t>
              </a:r>
              <a:endParaRPr lang="en-US" altLang="zh-TW" sz="2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成完整程式碼，同時提供時間與空間複雜度分析以及簡明的程</a:t>
              </a:r>
              <a:endParaRPr lang="en-US" altLang="zh-TW" sz="2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式優化建議。此外，</a:t>
              </a:r>
              <a:r>
                <a:rPr lang="en-US" altLang="zh-TW" sz="28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OpenAI</a:t>
              </a:r>
              <a:r>
                <a:rPr lang="en-US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API 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還可模擬程式執行結果，幫助</a:t>
              </a:r>
              <a:endParaRPr lang="en-US" altLang="zh-TW" sz="2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使用者預覽程式運行狀態。其次，</a:t>
              </a:r>
              <a:r>
                <a:rPr lang="en-US" altLang="zh-TW" sz="28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JDoodle</a:t>
              </a:r>
              <a:r>
                <a:rPr lang="en-US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API 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負責將生成程式</a:t>
              </a:r>
              <a:endParaRPr lang="en-US" altLang="zh-TW" sz="2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碼實際執行，回傳真實測試輸出結果，確保程式碼能正確運作</a:t>
              </a:r>
              <a:endParaRPr lang="en-US" altLang="zh-TW" sz="2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。透過這兩個 </a:t>
              </a:r>
              <a:r>
                <a:rPr lang="en-US" altLang="zh-TW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API </a:t>
              </a:r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的結合，系統能夠自動化從需求分析到程式</a:t>
              </a:r>
              <a:endParaRPr lang="en-US" altLang="zh-TW" sz="2800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zh-TW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生成，再到測試執行的完整流程，大幅提升開發效率與使用者體驗。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F31BC870-AABC-44BA-B64C-5BB5EDAD63EB}"/>
              </a:ext>
            </a:extLst>
          </p:cNvPr>
          <p:cNvSpPr/>
          <p:nvPr/>
        </p:nvSpPr>
        <p:spPr>
          <a:xfrm>
            <a:off x="2424899" y="5746992"/>
            <a:ext cx="73422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>
                <a:solidFill>
                  <a:srgbClr val="F8B70C"/>
                </a:solidFill>
                <a:latin typeface="Arial" panose="020B0604020202020204" pitchFamily="34" charset="0"/>
              </a:rPr>
              <a:t>系統整合前後端與 </a:t>
            </a:r>
            <a:r>
              <a:rPr lang="en-US" altLang="zh-TW" sz="2000" b="1" dirty="0">
                <a:solidFill>
                  <a:srgbClr val="F8B70C"/>
                </a:solidFill>
                <a:latin typeface="Arial" panose="020B0604020202020204" pitchFamily="34" charset="0"/>
              </a:rPr>
              <a:t>API</a:t>
            </a:r>
            <a:r>
              <a:rPr lang="zh-TW" altLang="en-US" sz="2000" b="1" dirty="0">
                <a:solidFill>
                  <a:srgbClr val="F8B70C"/>
                </a:solidFill>
                <a:latin typeface="Arial" panose="020B0604020202020204" pitchFamily="34" charset="0"/>
              </a:rPr>
              <a:t>，自動生成程式碼並提供分析與執行結果</a:t>
            </a:r>
          </a:p>
        </p:txBody>
      </p:sp>
    </p:spTree>
    <p:extLst>
      <p:ext uri="{BB962C8B-B14F-4D97-AF65-F5344CB8AC3E}">
        <p14:creationId xmlns:p14="http://schemas.microsoft.com/office/powerpoint/2010/main" val="1086093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752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1E3C817B-76F2-4559-A4FC-4B650C24416D}"/>
              </a:ext>
            </a:extLst>
          </p:cNvPr>
          <p:cNvGrpSpPr/>
          <p:nvPr/>
        </p:nvGrpSpPr>
        <p:grpSpPr>
          <a:xfrm>
            <a:off x="784430" y="1559955"/>
            <a:ext cx="10453410" cy="3399685"/>
            <a:chOff x="6338829" y="2452629"/>
            <a:chExt cx="10453410" cy="1890160"/>
          </a:xfrm>
        </p:grpSpPr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1868D27F-7A91-4B67-92FA-B95E4DD69BE3}"/>
                </a:ext>
              </a:extLst>
            </p:cNvPr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D5D0093-B647-482D-84EE-33C0106C0634}"/>
                </a:ext>
              </a:extLst>
            </p:cNvPr>
            <p:cNvSpPr txBox="1"/>
            <p:nvPr/>
          </p:nvSpPr>
          <p:spPr>
            <a:xfrm>
              <a:off x="6348354" y="2477604"/>
              <a:ext cx="10443885" cy="186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rgbClr val="149CCA"/>
                  </a:solidFill>
                  <a:latin typeface="Arial" panose="020B0604020202020204" pitchFamily="34" charset="0"/>
                </a:rPr>
                <a:t>與一般</a:t>
              </a:r>
              <a:r>
                <a:rPr lang="en-US" altLang="zh-TW" sz="3200" b="1" dirty="0">
                  <a:solidFill>
                    <a:srgbClr val="149CCA"/>
                  </a:solidFill>
                  <a:latin typeface="Arial" panose="020B0604020202020204" pitchFamily="34" charset="0"/>
                </a:rPr>
                <a:t>AI</a:t>
              </a:r>
              <a:r>
                <a:rPr lang="zh-TW" altLang="en-US" sz="3200" b="1" dirty="0">
                  <a:solidFill>
                    <a:srgbClr val="149CCA"/>
                  </a:solidFill>
                  <a:latin typeface="Arial" panose="020B0604020202020204" pitchFamily="34" charset="0"/>
                </a:rPr>
                <a:t>生成器的差別</a:t>
              </a:r>
              <a:endParaRPr lang="en-US" altLang="zh-TW" sz="3200" b="1" dirty="0">
                <a:solidFill>
                  <a:srgbClr val="149CCA"/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本系統不只是簡單生成程式碼，而是整合多種功能提供完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整開發支援。除了程式碼生成之外，系統還結合程式分類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、自動模板匹配、複雜度分析、語法檢查以及程式碼執行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模擬，讓使用者能快速得到高品質程式碼並驗證結果，顯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著提升使用者開發效率和程式碼可靠性。</a:t>
              </a:r>
            </a:p>
            <a:p>
              <a:endParaRPr lang="zh-TW" altLang="en-US" sz="2000" b="1" dirty="0">
                <a:solidFill>
                  <a:srgbClr val="149CCA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6B9849F7-69C8-4E77-AEFA-4B573C198B64}"/>
              </a:ext>
            </a:extLst>
          </p:cNvPr>
          <p:cNvSpPr/>
          <p:nvPr/>
        </p:nvSpPr>
        <p:spPr>
          <a:xfrm>
            <a:off x="692213" y="5746992"/>
            <a:ext cx="108075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149CCA"/>
                </a:solidFill>
                <a:latin typeface="Arial" panose="020B0604020202020204" pitchFamily="34" charset="0"/>
              </a:rPr>
              <a:t>系統整合程式分類、模板匹配與執行模擬，提供比一般 </a:t>
            </a:r>
            <a:r>
              <a:rPr lang="en-US" altLang="zh-TW" sz="2400" b="1" dirty="0">
                <a:solidFill>
                  <a:srgbClr val="149CCA"/>
                </a:solidFill>
                <a:latin typeface="Arial" panose="020B0604020202020204" pitchFamily="34" charset="0"/>
              </a:rPr>
              <a:t>AI </a:t>
            </a:r>
            <a:r>
              <a:rPr lang="zh-TW" altLang="en-US" sz="2400" b="1" dirty="0">
                <a:solidFill>
                  <a:srgbClr val="149CCA"/>
                </a:solidFill>
                <a:latin typeface="Arial" panose="020B0604020202020204" pitchFamily="34" charset="0"/>
              </a:rPr>
              <a:t>更完整的開發支援。</a:t>
            </a:r>
          </a:p>
        </p:txBody>
      </p:sp>
    </p:spTree>
    <p:extLst>
      <p:ext uri="{BB962C8B-B14F-4D97-AF65-F5344CB8AC3E}">
        <p14:creationId xmlns:p14="http://schemas.microsoft.com/office/powerpoint/2010/main" val="158578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1E3C817B-76F2-4559-A4FC-4B650C24416D}"/>
              </a:ext>
            </a:extLst>
          </p:cNvPr>
          <p:cNvGrpSpPr/>
          <p:nvPr/>
        </p:nvGrpSpPr>
        <p:grpSpPr>
          <a:xfrm>
            <a:off x="784430" y="1559955"/>
            <a:ext cx="7580828" cy="2784131"/>
            <a:chOff x="6338829" y="2452629"/>
            <a:chExt cx="7580828" cy="1547924"/>
          </a:xfrm>
        </p:grpSpPr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1868D27F-7A91-4B67-92FA-B95E4DD69BE3}"/>
                </a:ext>
              </a:extLst>
            </p:cNvPr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D5D0093-B647-482D-84EE-33C0106C0634}"/>
                </a:ext>
              </a:extLst>
            </p:cNvPr>
            <p:cNvSpPr txBox="1"/>
            <p:nvPr/>
          </p:nvSpPr>
          <p:spPr>
            <a:xfrm>
              <a:off x="6348354" y="2477604"/>
              <a:ext cx="7571303" cy="1522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rgbClr val="149CCA"/>
                  </a:solidFill>
                  <a:latin typeface="Arial" panose="020B0604020202020204" pitchFamily="34" charset="0"/>
                </a:rPr>
                <a:t>自動分類器</a:t>
              </a:r>
              <a:endParaRPr lang="en-US" altLang="zh-TW" sz="3200" b="1" dirty="0">
                <a:solidFill>
                  <a:srgbClr val="149CCA"/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系統內建智能分類器，能分析使用者輸入的需求描述，</a:t>
              </a:r>
              <a:endParaRPr lang="en-US" altLang="zh-TW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自動判斷程式類型，例如 </a:t>
              </a:r>
              <a:r>
                <a:rPr lang="en-US" altLang="zh-TW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BFS</a:t>
              </a:r>
              <a:r>
                <a:rPr lang="zh-TW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TW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DFS</a:t>
              </a:r>
              <a:r>
                <a:rPr lang="zh-TW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TW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Dijkstra</a:t>
              </a:r>
              <a:r>
                <a:rPr lang="zh-TW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、排序</a:t>
              </a:r>
              <a:endParaRPr lang="en-US" altLang="zh-TW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演算法或 </a:t>
              </a:r>
              <a:r>
                <a:rPr lang="en-US" altLang="zh-TW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SQL </a:t>
              </a:r>
              <a:r>
                <a:rPr lang="zh-TW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查詢，並將需求匹配至對應模板。這樣</a:t>
              </a:r>
              <a:endParaRPr lang="en-US" altLang="zh-TW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不僅省去使用者手動選擇的時間，也確保生成程式碼更</a:t>
              </a:r>
              <a:endParaRPr lang="en-US" altLang="zh-TW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加符合需求場景與演算法特性。</a:t>
              </a:r>
            </a:p>
            <a:p>
              <a:endParaRPr lang="zh-TW" altLang="en-US" sz="2000" b="1" dirty="0">
                <a:solidFill>
                  <a:srgbClr val="149CCA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6B9849F7-69C8-4E77-AEFA-4B573C198B64}"/>
              </a:ext>
            </a:extLst>
          </p:cNvPr>
          <p:cNvSpPr/>
          <p:nvPr/>
        </p:nvSpPr>
        <p:spPr>
          <a:xfrm>
            <a:off x="1694795" y="5746992"/>
            <a:ext cx="88024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149CCA"/>
                </a:solidFill>
                <a:latin typeface="Arial" panose="020B0604020202020204" pitchFamily="34" charset="0"/>
              </a:rPr>
              <a:t>智能分類器自動判斷程式類型，快速匹配最適合的演算法模板。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95CBC9A-A4E7-42EA-9903-D9EA6F954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328" y="3681968"/>
            <a:ext cx="4191372" cy="186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84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1E3C817B-76F2-4559-A4FC-4B650C24416D}"/>
              </a:ext>
            </a:extLst>
          </p:cNvPr>
          <p:cNvGrpSpPr/>
          <p:nvPr/>
        </p:nvGrpSpPr>
        <p:grpSpPr>
          <a:xfrm>
            <a:off x="784430" y="1559955"/>
            <a:ext cx="10453410" cy="2907242"/>
            <a:chOff x="6338829" y="2452629"/>
            <a:chExt cx="10453410" cy="1616371"/>
          </a:xfrm>
        </p:grpSpPr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1868D27F-7A91-4B67-92FA-B95E4DD69BE3}"/>
                </a:ext>
              </a:extLst>
            </p:cNvPr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D5D0093-B647-482D-84EE-33C0106C0634}"/>
                </a:ext>
              </a:extLst>
            </p:cNvPr>
            <p:cNvSpPr txBox="1"/>
            <p:nvPr/>
          </p:nvSpPr>
          <p:spPr>
            <a:xfrm>
              <a:off x="6348354" y="2477604"/>
              <a:ext cx="10443885" cy="1591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rgbClr val="149CCA"/>
                  </a:solidFill>
                  <a:latin typeface="Arial" panose="020B0604020202020204" pitchFamily="34" charset="0"/>
                </a:rPr>
                <a:t>演算法模板</a:t>
              </a:r>
              <a:endParaRPr lang="en-US" altLang="zh-TW" sz="3200" b="1" dirty="0">
                <a:solidFill>
                  <a:srgbClr val="149CCA"/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每個分類都對應專門設計的程式碼模板，涵蓋經典演算法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與常用程式範例，確保生成程式碼結構完整、可直接使用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或修改。模板設計考慮程式效率與可讀性，能幫助使用者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快速理解程式邏輯，減少錯誤並提升開發效率。</a:t>
              </a:r>
            </a:p>
            <a:p>
              <a:endParaRPr lang="zh-TW" altLang="en-US" sz="2000" b="1" dirty="0">
                <a:solidFill>
                  <a:srgbClr val="149CCA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6B9849F7-69C8-4E77-AEFA-4B573C198B64}"/>
              </a:ext>
            </a:extLst>
          </p:cNvPr>
          <p:cNvSpPr/>
          <p:nvPr/>
        </p:nvSpPr>
        <p:spPr>
          <a:xfrm>
            <a:off x="1079242" y="5746992"/>
            <a:ext cx="100335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149CCA"/>
                </a:solidFill>
                <a:latin typeface="Arial" panose="020B0604020202020204" pitchFamily="34" charset="0"/>
              </a:rPr>
              <a:t>內建模板確保生成程式碼結構完整、可直接使用或修改，提升開發效率。</a:t>
            </a:r>
          </a:p>
        </p:txBody>
      </p:sp>
    </p:spTree>
    <p:extLst>
      <p:ext uri="{BB962C8B-B14F-4D97-AF65-F5344CB8AC3E}">
        <p14:creationId xmlns:p14="http://schemas.microsoft.com/office/powerpoint/2010/main" val="341884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1E3C817B-76F2-4559-A4FC-4B650C24416D}"/>
              </a:ext>
            </a:extLst>
          </p:cNvPr>
          <p:cNvGrpSpPr/>
          <p:nvPr/>
        </p:nvGrpSpPr>
        <p:grpSpPr>
          <a:xfrm>
            <a:off x="784430" y="1559953"/>
            <a:ext cx="10156855" cy="2599466"/>
            <a:chOff x="6338829" y="2452629"/>
            <a:chExt cx="10156855" cy="1445254"/>
          </a:xfrm>
        </p:grpSpPr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1868D27F-7A91-4B67-92FA-B95E4DD69BE3}"/>
                </a:ext>
              </a:extLst>
            </p:cNvPr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D5D0093-B647-482D-84EE-33C0106C0634}"/>
                </a:ext>
              </a:extLst>
            </p:cNvPr>
            <p:cNvSpPr txBox="1"/>
            <p:nvPr/>
          </p:nvSpPr>
          <p:spPr>
            <a:xfrm>
              <a:off x="6348354" y="2477604"/>
              <a:ext cx="10147330" cy="1420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3200" b="1" dirty="0">
                  <a:solidFill>
                    <a:srgbClr val="149CCA"/>
                  </a:solidFill>
                  <a:latin typeface="Arial" panose="020B0604020202020204" pitchFamily="34" charset="0"/>
                </a:rPr>
                <a:t>JSON </a:t>
              </a:r>
              <a:r>
                <a:rPr lang="zh-TW" altLang="en-US" sz="3200" b="1" dirty="0">
                  <a:solidFill>
                    <a:srgbClr val="149CCA"/>
                  </a:solidFill>
                  <a:latin typeface="Arial" panose="020B0604020202020204" pitchFamily="34" charset="0"/>
                </a:rPr>
                <a:t>格式強制</a:t>
              </a:r>
              <a:endParaRPr lang="en-US" altLang="zh-TW" sz="3200" b="1" dirty="0">
                <a:solidFill>
                  <a:srgbClr val="149CCA"/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生成程式碼採用統一 </a:t>
              </a:r>
              <a:r>
                <a:rPr lang="en-US" altLang="zh-TW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JSON </a:t>
              </a: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格式輸出，內含完整程式碼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、時間與空間複雜度分析，以及簡明說明文字。這種結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構化輸出方便系統進一步處理、解析或顯示，也便於使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用者直接在不同平台或工具中引用與操作。</a:t>
              </a: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6B9849F7-69C8-4E77-AEFA-4B573C198B64}"/>
              </a:ext>
            </a:extLst>
          </p:cNvPr>
          <p:cNvSpPr/>
          <p:nvPr/>
        </p:nvSpPr>
        <p:spPr>
          <a:xfrm>
            <a:off x="926957" y="5118342"/>
            <a:ext cx="103380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>
                <a:solidFill>
                  <a:srgbClr val="149CCA"/>
                </a:solidFill>
                <a:latin typeface="Arial" panose="020B0604020202020204" pitchFamily="34" charset="0"/>
              </a:rPr>
              <a:t>程式碼以統一 </a:t>
            </a:r>
            <a:r>
              <a:rPr lang="en-US" altLang="zh-TW" sz="2800" b="1" dirty="0">
                <a:solidFill>
                  <a:srgbClr val="149CCA"/>
                </a:solidFill>
                <a:latin typeface="Arial" panose="020B0604020202020204" pitchFamily="34" charset="0"/>
              </a:rPr>
              <a:t>JSON </a:t>
            </a:r>
            <a:r>
              <a:rPr lang="zh-TW" altLang="en-US" sz="2800" b="1" dirty="0">
                <a:solidFill>
                  <a:srgbClr val="149CCA"/>
                </a:solidFill>
                <a:latin typeface="Arial" panose="020B0604020202020204" pitchFamily="34" charset="0"/>
              </a:rPr>
              <a:t>格式輸出，方便解析、展示與跨平台使用。</a:t>
            </a:r>
          </a:p>
        </p:txBody>
      </p:sp>
    </p:spTree>
    <p:extLst>
      <p:ext uri="{BB962C8B-B14F-4D97-AF65-F5344CB8AC3E}">
        <p14:creationId xmlns:p14="http://schemas.microsoft.com/office/powerpoint/2010/main" val="382873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1E3C817B-76F2-4559-A4FC-4B650C24416D}"/>
              </a:ext>
            </a:extLst>
          </p:cNvPr>
          <p:cNvGrpSpPr/>
          <p:nvPr/>
        </p:nvGrpSpPr>
        <p:grpSpPr>
          <a:xfrm>
            <a:off x="784430" y="1559952"/>
            <a:ext cx="10179297" cy="3091908"/>
            <a:chOff x="6338829" y="2452629"/>
            <a:chExt cx="10179297" cy="1719043"/>
          </a:xfrm>
        </p:grpSpPr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1868D27F-7A91-4B67-92FA-B95E4DD69BE3}"/>
                </a:ext>
              </a:extLst>
            </p:cNvPr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D5D0093-B647-482D-84EE-33C0106C0634}"/>
                </a:ext>
              </a:extLst>
            </p:cNvPr>
            <p:cNvSpPr txBox="1"/>
            <p:nvPr/>
          </p:nvSpPr>
          <p:spPr>
            <a:xfrm>
              <a:off x="6348354" y="2477604"/>
              <a:ext cx="10169772" cy="1694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3200" b="1" dirty="0">
                  <a:solidFill>
                    <a:srgbClr val="149CCA"/>
                  </a:solidFill>
                  <a:latin typeface="Arial" panose="020B0604020202020204" pitchFamily="34" charset="0"/>
                </a:rPr>
                <a:t>GPT </a:t>
              </a:r>
              <a:r>
                <a:rPr lang="zh-TW" altLang="en-US" sz="3200" b="1" dirty="0">
                  <a:solidFill>
                    <a:srgbClr val="149CCA"/>
                  </a:solidFill>
                  <a:latin typeface="Arial" panose="020B0604020202020204" pitchFamily="34" charset="0"/>
                </a:rPr>
                <a:t>模擬 </a:t>
              </a:r>
              <a:r>
                <a:rPr lang="en-US" altLang="zh-TW" sz="3200" b="1" dirty="0">
                  <a:solidFill>
                    <a:srgbClr val="149CCA"/>
                  </a:solidFill>
                  <a:latin typeface="Arial" panose="020B0604020202020204" pitchFamily="34" charset="0"/>
                </a:rPr>
                <a:t>+ </a:t>
              </a:r>
              <a:r>
                <a:rPr lang="en-US" altLang="zh-TW" sz="3200" b="1" dirty="0" err="1">
                  <a:solidFill>
                    <a:srgbClr val="149CCA"/>
                  </a:solidFill>
                  <a:latin typeface="Arial" panose="020B0604020202020204" pitchFamily="34" charset="0"/>
                </a:rPr>
                <a:t>JDoodle</a:t>
              </a:r>
              <a:r>
                <a:rPr lang="en-US" altLang="zh-TW" sz="3200" b="1" dirty="0">
                  <a:solidFill>
                    <a:srgbClr val="149CCA"/>
                  </a:solidFill>
                  <a:latin typeface="Arial" panose="020B0604020202020204" pitchFamily="34" charset="0"/>
                </a:rPr>
                <a:t> </a:t>
              </a:r>
              <a:r>
                <a:rPr lang="zh-TW" altLang="en-US" sz="3200" b="1" dirty="0">
                  <a:solidFill>
                    <a:srgbClr val="149CCA"/>
                  </a:solidFill>
                  <a:latin typeface="Arial" panose="020B0604020202020204" pitchFamily="34" charset="0"/>
                </a:rPr>
                <a:t>真實執行</a:t>
              </a:r>
              <a:endParaRPr lang="en-US" altLang="zh-TW" sz="3200" b="1" dirty="0">
                <a:solidFill>
                  <a:srgbClr val="149CCA"/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系統提供雙重程式執行功能：</a:t>
              </a:r>
              <a:r>
                <a:rPr lang="en-US" altLang="zh-TW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GPT </a:t>
              </a: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模擬可快速預覽程式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執行結果，適合快速驗證邏輯；</a:t>
              </a:r>
              <a:r>
                <a:rPr lang="en-US" altLang="zh-TW" sz="32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JDoodle</a:t>
              </a:r>
              <a:r>
                <a:rPr lang="en-US" altLang="zh-TW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API </a:t>
              </a: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則能真實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執行程式碼，返回正確測試輸出。這種設計讓使用者同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時得到預覽與可靠測試結果，避免單純依賴 </a:t>
              </a:r>
              <a:r>
                <a:rPr lang="en-US" altLang="zh-TW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AI </a:t>
              </a: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模擬可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能出現的錯誤。</a:t>
              </a: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6B9849F7-69C8-4E77-AEFA-4B573C198B64}"/>
              </a:ext>
            </a:extLst>
          </p:cNvPr>
          <p:cNvSpPr/>
          <p:nvPr/>
        </p:nvSpPr>
        <p:spPr>
          <a:xfrm>
            <a:off x="1233130" y="5298048"/>
            <a:ext cx="97257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149CCA"/>
                </a:solidFill>
                <a:latin typeface="Arial" panose="020B0604020202020204" pitchFamily="34" charset="0"/>
              </a:rPr>
              <a:t>雙重執行功能同時提供程式預覽與真實測試結果，確保程式碼可靠性。</a:t>
            </a:r>
          </a:p>
        </p:txBody>
      </p:sp>
    </p:spTree>
    <p:extLst>
      <p:ext uri="{BB962C8B-B14F-4D97-AF65-F5344CB8AC3E}">
        <p14:creationId xmlns:p14="http://schemas.microsoft.com/office/powerpoint/2010/main" val="274683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1E3C817B-76F2-4559-A4FC-4B650C24416D}"/>
              </a:ext>
            </a:extLst>
          </p:cNvPr>
          <p:cNvGrpSpPr/>
          <p:nvPr/>
        </p:nvGrpSpPr>
        <p:grpSpPr>
          <a:xfrm>
            <a:off x="784430" y="1559952"/>
            <a:ext cx="9632672" cy="2599465"/>
            <a:chOff x="6338829" y="2452629"/>
            <a:chExt cx="9632672" cy="1445254"/>
          </a:xfrm>
        </p:grpSpPr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1868D27F-7A91-4B67-92FA-B95E4DD69BE3}"/>
                </a:ext>
              </a:extLst>
            </p:cNvPr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D5D0093-B647-482D-84EE-33C0106C0634}"/>
                </a:ext>
              </a:extLst>
            </p:cNvPr>
            <p:cNvSpPr txBox="1"/>
            <p:nvPr/>
          </p:nvSpPr>
          <p:spPr>
            <a:xfrm>
              <a:off x="6348354" y="2477604"/>
              <a:ext cx="9623147" cy="1420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rgbClr val="149CCA"/>
                  </a:solidFill>
                  <a:latin typeface="Arial" panose="020B0604020202020204" pitchFamily="34" charset="0"/>
                </a:rPr>
                <a:t>複雜度分析、語法檢查</a:t>
              </a:r>
              <a:endParaRPr lang="en-US" altLang="zh-TW" sz="3200" b="1" dirty="0">
                <a:solidFill>
                  <a:srgbClr val="149CCA"/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系統自動分析生成程式碼的時間與空間複雜度，提供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使用者對程式效率的直觀了解。同時進行語法檢查與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優化建議，幫助使用者提高程式碼品質、可讀性與維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護性，降低潛在錯誤發生率。</a:t>
              </a: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6B9849F7-69C8-4E77-AEFA-4B573C198B64}"/>
              </a:ext>
            </a:extLst>
          </p:cNvPr>
          <p:cNvSpPr/>
          <p:nvPr/>
        </p:nvSpPr>
        <p:spPr>
          <a:xfrm>
            <a:off x="1009430" y="5253127"/>
            <a:ext cx="100335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149CCA"/>
                </a:solidFill>
                <a:latin typeface="Arial" panose="020B0604020202020204" pitchFamily="34" charset="0"/>
              </a:rPr>
              <a:t>自動提供時間與空間複雜度分析及語法檢查，提升程式碼品質與可讀性。</a:t>
            </a:r>
          </a:p>
        </p:txBody>
      </p:sp>
    </p:spTree>
    <p:extLst>
      <p:ext uri="{BB962C8B-B14F-4D97-AF65-F5344CB8AC3E}">
        <p14:creationId xmlns:p14="http://schemas.microsoft.com/office/powerpoint/2010/main" val="422002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407987" y="3429000"/>
            <a:ext cx="1431143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32CB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活動方案</a:t>
            </a:r>
          </a:p>
        </p:txBody>
      </p:sp>
      <p:sp>
        <p:nvSpPr>
          <p:cNvPr id="4" name="圓角矩形 3"/>
          <p:cNvSpPr/>
          <p:nvPr/>
        </p:nvSpPr>
        <p:spPr>
          <a:xfrm>
            <a:off x="2010556" y="3429000"/>
            <a:ext cx="1431143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32CB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經費規劃</a:t>
            </a:r>
          </a:p>
        </p:txBody>
      </p:sp>
    </p:spTree>
    <p:extLst>
      <p:ext uri="{BB962C8B-B14F-4D97-AF65-F5344CB8AC3E}">
        <p14:creationId xmlns:p14="http://schemas.microsoft.com/office/powerpoint/2010/main" val="285112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739B795C-2819-4C1D-BFBC-59CD0AB82A51}"/>
              </a:ext>
            </a:extLst>
          </p:cNvPr>
          <p:cNvGrpSpPr/>
          <p:nvPr/>
        </p:nvGrpSpPr>
        <p:grpSpPr>
          <a:xfrm>
            <a:off x="784430" y="1559952"/>
            <a:ext cx="9632672" cy="3091908"/>
            <a:chOff x="6338829" y="2452629"/>
            <a:chExt cx="9632672" cy="1719043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F4A7EB64-1189-4256-966B-33ED1D0B5B91}"/>
                </a:ext>
              </a:extLst>
            </p:cNvPr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DD85862B-7974-4730-92D6-A9895DA892A8}"/>
                </a:ext>
              </a:extLst>
            </p:cNvPr>
            <p:cNvSpPr txBox="1"/>
            <p:nvPr/>
          </p:nvSpPr>
          <p:spPr>
            <a:xfrm>
              <a:off x="6348354" y="2477604"/>
              <a:ext cx="9623147" cy="1694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rgbClr val="32CB58"/>
                  </a:solidFill>
                  <a:latin typeface="Arial" panose="020B0604020202020204" pitchFamily="34" charset="0"/>
                </a:rPr>
                <a:t>模板套用</a:t>
              </a:r>
              <a:endParaRPr lang="en-US" altLang="zh-TW" sz="3200" b="1" dirty="0">
                <a:solidFill>
                  <a:srgbClr val="32CB58"/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系統會根據使用者輸入的需求描述，自動判斷程式類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型並套用對應的演算法模板。這些模板涵蓋經典演算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法與常用程式範例，確保生成程式碼結構完整且符合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最佳實務，讓使用者能快速得到可運行的程式框架，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減少手動編寫與錯誤風險。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2D28FCD6-9063-4148-B89C-652B57973F1E}"/>
              </a:ext>
            </a:extLst>
          </p:cNvPr>
          <p:cNvSpPr/>
          <p:nvPr/>
        </p:nvSpPr>
        <p:spPr>
          <a:xfrm>
            <a:off x="1009430" y="5253127"/>
            <a:ext cx="103412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32CB58"/>
                </a:solidFill>
                <a:latin typeface="Arial" panose="020B0604020202020204" pitchFamily="34" charset="0"/>
              </a:rPr>
              <a:t>系統自動套用對應演算法模板，生成結構完整、可直接使用的程式碼框架。</a:t>
            </a:r>
          </a:p>
        </p:txBody>
      </p:sp>
    </p:spTree>
    <p:extLst>
      <p:ext uri="{BB962C8B-B14F-4D97-AF65-F5344CB8AC3E}">
        <p14:creationId xmlns:p14="http://schemas.microsoft.com/office/powerpoint/2010/main" val="182356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739B795C-2819-4C1D-BFBC-59CD0AB82A51}"/>
              </a:ext>
            </a:extLst>
          </p:cNvPr>
          <p:cNvGrpSpPr/>
          <p:nvPr/>
        </p:nvGrpSpPr>
        <p:grpSpPr>
          <a:xfrm>
            <a:off x="784430" y="1559952"/>
            <a:ext cx="10453410" cy="3584351"/>
            <a:chOff x="6338829" y="2452629"/>
            <a:chExt cx="10453410" cy="1992832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F4A7EB64-1189-4256-966B-33ED1D0B5B91}"/>
                </a:ext>
              </a:extLst>
            </p:cNvPr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DD85862B-7974-4730-92D6-A9895DA892A8}"/>
                </a:ext>
              </a:extLst>
            </p:cNvPr>
            <p:cNvSpPr txBox="1"/>
            <p:nvPr/>
          </p:nvSpPr>
          <p:spPr>
            <a:xfrm>
              <a:off x="6348354" y="2477604"/>
              <a:ext cx="10443885" cy="19678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rgbClr val="32CB58"/>
                  </a:solidFill>
                  <a:latin typeface="Arial" panose="020B0604020202020204" pitchFamily="34" charset="0"/>
                </a:rPr>
                <a:t>訊息處理</a:t>
              </a:r>
              <a:endParaRPr lang="en-US" altLang="zh-TW" sz="3200" b="1" dirty="0">
                <a:solidFill>
                  <a:srgbClr val="32CB58"/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在程式碼生成過程中，系統會將使用者需求、選擇的程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式語言與測試輸入進行整合，轉換成 </a:t>
              </a:r>
              <a:r>
                <a:rPr lang="en-US" altLang="zh-TW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GPT </a:t>
              </a: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可解析的提示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訊息，並接收 </a:t>
              </a:r>
              <a:r>
                <a:rPr lang="en-US" altLang="zh-TW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GPT </a:t>
              </a: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回傳的 </a:t>
              </a:r>
              <a:r>
                <a:rPr lang="en-US" altLang="zh-TW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JSON </a:t>
              </a: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格式程式碼。此流程確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保程式碼內容完整、格式統一，並包含程式解釋及複雜度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分析，方便後續使用與展示。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ABA9B3B8-5B23-48E6-84C8-3BACF9B62D09}"/>
              </a:ext>
            </a:extLst>
          </p:cNvPr>
          <p:cNvSpPr/>
          <p:nvPr/>
        </p:nvSpPr>
        <p:spPr>
          <a:xfrm>
            <a:off x="2832927" y="5298048"/>
            <a:ext cx="652614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32CB58"/>
                </a:solidFill>
                <a:latin typeface="Arial" panose="020B0604020202020204" pitchFamily="34" charset="0"/>
              </a:rPr>
              <a:t>使用者需求、程式語言與測試輸入整合成 </a:t>
            </a:r>
            <a:r>
              <a:rPr lang="en-US" altLang="zh-TW" sz="2400" b="1" dirty="0">
                <a:solidFill>
                  <a:srgbClr val="32CB58"/>
                </a:solidFill>
                <a:latin typeface="Arial" panose="020B0604020202020204" pitchFamily="34" charset="0"/>
              </a:rPr>
              <a:t>GPT </a:t>
            </a:r>
          </a:p>
          <a:p>
            <a:r>
              <a:rPr lang="zh-TW" altLang="en-US" sz="2400" b="1" dirty="0">
                <a:solidFill>
                  <a:srgbClr val="32CB58"/>
                </a:solidFill>
                <a:latin typeface="Arial" panose="020B0604020202020204" pitchFamily="34" charset="0"/>
              </a:rPr>
              <a:t>可解析訊息，確保程式碼完整且格式統一。</a:t>
            </a:r>
          </a:p>
        </p:txBody>
      </p:sp>
    </p:spTree>
    <p:extLst>
      <p:ext uri="{BB962C8B-B14F-4D97-AF65-F5344CB8AC3E}">
        <p14:creationId xmlns:p14="http://schemas.microsoft.com/office/powerpoint/2010/main" val="359335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739B795C-2819-4C1D-BFBC-59CD0AB82A51}"/>
              </a:ext>
            </a:extLst>
          </p:cNvPr>
          <p:cNvGrpSpPr/>
          <p:nvPr/>
        </p:nvGrpSpPr>
        <p:grpSpPr>
          <a:xfrm>
            <a:off x="784430" y="1559951"/>
            <a:ext cx="10703478" cy="4076794"/>
            <a:chOff x="6338829" y="2452629"/>
            <a:chExt cx="10703478" cy="2266621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F4A7EB64-1189-4256-966B-33ED1D0B5B91}"/>
                </a:ext>
              </a:extLst>
            </p:cNvPr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DD85862B-7974-4730-92D6-A9895DA892A8}"/>
                </a:ext>
              </a:extLst>
            </p:cNvPr>
            <p:cNvSpPr txBox="1"/>
            <p:nvPr/>
          </p:nvSpPr>
          <p:spPr>
            <a:xfrm>
              <a:off x="6348354" y="2477604"/>
              <a:ext cx="10693953" cy="22416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rgbClr val="32CB58"/>
                  </a:solidFill>
                  <a:latin typeface="Arial" panose="020B0604020202020204" pitchFamily="34" charset="0"/>
                </a:rPr>
                <a:t>程式模擬＋實際執行的整合流程</a:t>
              </a:r>
              <a:endParaRPr lang="en-US" altLang="zh-TW" sz="3200" b="1" dirty="0">
                <a:solidFill>
                  <a:srgbClr val="32CB58"/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生成程式碼後，系統先透過 </a:t>
              </a:r>
              <a:r>
                <a:rPr lang="en-US" altLang="zh-TW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GPT </a:t>
              </a: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模擬程式執行，快速預覽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程式邏輯與輸出結果；接著再透過 </a:t>
              </a:r>
              <a:r>
                <a:rPr lang="en-US" altLang="zh-TW" sz="32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JDoodle</a:t>
              </a:r>
              <a:r>
                <a:rPr lang="en-US" altLang="zh-TW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API </a:t>
              </a: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真實執行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程式碼，回傳可靠的測試輸出。這種雙重流程確保使用者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既能快速驗證程式邏輯，又能得到真實運行結果，提高程</a:t>
              </a:r>
              <a:endParaRPr lang="en-US" altLang="zh-TW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式碼可靠性與使用者信心。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91CF545E-53E6-411D-B2BD-8DCE6D8E1226}"/>
              </a:ext>
            </a:extLst>
          </p:cNvPr>
          <p:cNvSpPr/>
          <p:nvPr/>
        </p:nvSpPr>
        <p:spPr>
          <a:xfrm>
            <a:off x="448460" y="5253127"/>
            <a:ext cx="112950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32CB58"/>
                </a:solidFill>
                <a:latin typeface="Arial" panose="020B0604020202020204" pitchFamily="34" charset="0"/>
              </a:rPr>
              <a:t>先透過 </a:t>
            </a:r>
            <a:r>
              <a:rPr lang="en-US" altLang="zh-TW" sz="2400" b="1" dirty="0">
                <a:solidFill>
                  <a:srgbClr val="32CB58"/>
                </a:solidFill>
                <a:latin typeface="Arial" panose="020B0604020202020204" pitchFamily="34" charset="0"/>
              </a:rPr>
              <a:t>GPT </a:t>
            </a:r>
            <a:r>
              <a:rPr lang="zh-TW" altLang="en-US" sz="2400" b="1" dirty="0">
                <a:solidFill>
                  <a:srgbClr val="32CB58"/>
                </a:solidFill>
                <a:latin typeface="Arial" panose="020B0604020202020204" pitchFamily="34" charset="0"/>
              </a:rPr>
              <a:t>模擬程式執行，再以 </a:t>
            </a:r>
            <a:r>
              <a:rPr lang="en-US" altLang="zh-TW" sz="2400" b="1" dirty="0" err="1">
                <a:solidFill>
                  <a:srgbClr val="32CB58"/>
                </a:solidFill>
                <a:latin typeface="Arial" panose="020B0604020202020204" pitchFamily="34" charset="0"/>
              </a:rPr>
              <a:t>JDoodle</a:t>
            </a:r>
            <a:r>
              <a:rPr lang="en-US" altLang="zh-TW" sz="2400" b="1" dirty="0">
                <a:solidFill>
                  <a:srgbClr val="32CB58"/>
                </a:solidFill>
                <a:latin typeface="Arial" panose="020B0604020202020204" pitchFamily="34" charset="0"/>
              </a:rPr>
              <a:t> </a:t>
            </a:r>
            <a:r>
              <a:rPr lang="zh-TW" altLang="en-US" sz="2400" b="1" dirty="0">
                <a:solidFill>
                  <a:srgbClr val="32CB58"/>
                </a:solidFill>
                <a:latin typeface="Arial" panose="020B0604020202020204" pitchFamily="34" charset="0"/>
              </a:rPr>
              <a:t>真實運行，提供預覽與可靠測試結果。</a:t>
            </a:r>
          </a:p>
        </p:txBody>
      </p:sp>
    </p:spTree>
    <p:extLst>
      <p:ext uri="{BB962C8B-B14F-4D97-AF65-F5344CB8AC3E}">
        <p14:creationId xmlns:p14="http://schemas.microsoft.com/office/powerpoint/2010/main" val="417730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407988" y="3429000"/>
            <a:ext cx="1460570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A365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未來展望</a:t>
            </a:r>
          </a:p>
        </p:txBody>
      </p:sp>
    </p:spTree>
    <p:extLst>
      <p:ext uri="{BB962C8B-B14F-4D97-AF65-F5344CB8AC3E}">
        <p14:creationId xmlns:p14="http://schemas.microsoft.com/office/powerpoint/2010/main" val="156639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未來展望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335ADFB5-35BC-49C9-AAA7-360843779F19}"/>
              </a:ext>
            </a:extLst>
          </p:cNvPr>
          <p:cNvGrpSpPr/>
          <p:nvPr/>
        </p:nvGrpSpPr>
        <p:grpSpPr>
          <a:xfrm>
            <a:off x="784430" y="1559957"/>
            <a:ext cx="10453410" cy="3687516"/>
            <a:chOff x="6338829" y="2452629"/>
            <a:chExt cx="10453410" cy="3687516"/>
          </a:xfrm>
        </p:grpSpPr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479BD92F-1564-45ED-AADB-BE99B79E8543}"/>
                </a:ext>
              </a:extLst>
            </p:cNvPr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00" dirty="0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BF591B43-4025-4297-9181-D6953CBDC68F}"/>
                </a:ext>
              </a:extLst>
            </p:cNvPr>
            <p:cNvSpPr txBox="1"/>
            <p:nvPr/>
          </p:nvSpPr>
          <p:spPr>
            <a:xfrm>
              <a:off x="6348354" y="2477604"/>
              <a:ext cx="10443885" cy="36625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2400" b="1" dirty="0">
                  <a:solidFill>
                    <a:srgbClr val="A466D8"/>
                  </a:solidFill>
                  <a:latin typeface="Arial" panose="020B0604020202020204" pitchFamily="34" charset="0"/>
                </a:rPr>
                <a:t>新模板、新語言</a:t>
              </a:r>
              <a:endParaRPr lang="en-US" altLang="zh-TW" sz="2400" b="1" dirty="0">
                <a:solidFill>
                  <a:srgbClr val="A466D8"/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系統設計具有高度彈性，未來可以持續新增更多演算法模板以及支援更多程式語言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，讓使用者在不同專案或課程需求下都能快速生成符合需求的程式碼，並且保持系統長期可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維護與可擴充的特性。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2400" b="1" dirty="0">
                  <a:solidFill>
                    <a:srgbClr val="A466D8"/>
                  </a:solidFill>
                  <a:latin typeface="Arial" panose="020B0604020202020204" pitchFamily="34" charset="0"/>
                </a:rPr>
                <a:t>Lint</a:t>
              </a:r>
              <a:r>
                <a:rPr lang="zh-TW" altLang="en-US" sz="2400" b="1" dirty="0">
                  <a:solidFill>
                    <a:srgbClr val="A466D8"/>
                  </a:solidFill>
                  <a:latin typeface="Arial" panose="020B0604020202020204" pitchFamily="34" charset="0"/>
                </a:rPr>
                <a:t>＋靜態分析強化</a:t>
              </a:r>
              <a:endParaRPr lang="zh-TW" altLang="zh-TW" sz="2400" b="1" dirty="0">
                <a:solidFill>
                  <a:srgbClr val="A466D8"/>
                </a:solidFill>
                <a:latin typeface="Arial" panose="020B0604020202020204" pitchFamily="34" charset="0"/>
              </a:endParaRPr>
            </a:p>
            <a:p>
              <a:pPr lv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目前系統提供基本語法檢查功能，未來可整合更完整的 </a:t>
              </a:r>
              <a:r>
                <a:rPr lang="en-US" altLang="zh-TW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Lint </a:t>
              </a:r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工具與靜態分析技術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lv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，幫助使用者在撰寫程式時即時偵測語法錯誤、潛在邏輯問題與最佳化建議，提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lv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高程式碼品質與可靠性。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2400" b="1" dirty="0">
                  <a:solidFill>
                    <a:srgbClr val="A466D8"/>
                  </a:solidFill>
                  <a:latin typeface="Arial" panose="020B0604020202020204" pitchFamily="34" charset="0"/>
                </a:rPr>
                <a:t>使用者介面優化</a:t>
              </a:r>
              <a:endParaRPr lang="en-US" altLang="zh-TW" sz="2400" b="1" dirty="0">
                <a:solidFill>
                  <a:srgbClr val="A466D8"/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使用者介面可持續改善，包括操作流程更直覺、功能分區更清楚，以及增加互動提示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與輔助說明，讓使用者能更快速完成程式生成與測試，提升整體操作體驗與系統可用性。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518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未來展望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335ADFB5-35BC-49C9-AAA7-360843779F19}"/>
              </a:ext>
            </a:extLst>
          </p:cNvPr>
          <p:cNvGrpSpPr/>
          <p:nvPr/>
        </p:nvGrpSpPr>
        <p:grpSpPr>
          <a:xfrm>
            <a:off x="784430" y="1559957"/>
            <a:ext cx="10520929" cy="3995293"/>
            <a:chOff x="6338829" y="2452629"/>
            <a:chExt cx="10520929" cy="3995293"/>
          </a:xfrm>
        </p:grpSpPr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479BD92F-1564-45ED-AADB-BE99B79E8543}"/>
                </a:ext>
              </a:extLst>
            </p:cNvPr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00" dirty="0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BF591B43-4025-4297-9181-D6953CBDC68F}"/>
                </a:ext>
              </a:extLst>
            </p:cNvPr>
            <p:cNvSpPr txBox="1"/>
            <p:nvPr/>
          </p:nvSpPr>
          <p:spPr>
            <a:xfrm>
              <a:off x="6348354" y="2477604"/>
              <a:ext cx="10511404" cy="39703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2400" b="1" dirty="0">
                  <a:solidFill>
                    <a:srgbClr val="A466D8"/>
                  </a:solidFill>
                  <a:latin typeface="Arial" panose="020B0604020202020204" pitchFamily="34" charset="0"/>
                </a:rPr>
                <a:t>公司聯名帳戶管理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未來可開發多帳戶協作介面，支援企業內跨部門、跨專案的統一帳號管理機制。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透過權限分級、使用紀錄追蹤與共用檔案資料夾等功能，企業用戶能更有效率地協作，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同時提高系統在企業環境的可部署性與安全性。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2400" b="1" dirty="0">
                  <a:solidFill>
                    <a:srgbClr val="A466D8"/>
                  </a:solidFill>
                  <a:latin typeface="Arial" panose="020B0604020202020204" pitchFamily="34" charset="0"/>
                </a:rPr>
                <a:t>排列組生成器</a:t>
              </a:r>
              <a:endParaRPr lang="zh-TW" altLang="zh-TW" sz="2400" b="1" dirty="0">
                <a:solidFill>
                  <a:srgbClr val="A466D8"/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針對需要大量資料組合的使用情境，系統可提供內建的排列組合演算法模板，讓使用者能依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輸入集合快速生成結果。此工具可支援數據分析、演算法教學、測試案例生成等需求，並能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作為日後其他數學工具的基礎模組。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2400" b="1" dirty="0">
                  <a:solidFill>
                    <a:srgbClr val="A466D8"/>
                  </a:solidFill>
                  <a:latin typeface="Arial" panose="020B0604020202020204" pitchFamily="34" charset="0"/>
                </a:rPr>
                <a:t>TensorFlow</a:t>
              </a:r>
              <a:r>
                <a:rPr lang="en-US" altLang="zh-TW" sz="2400" dirty="0"/>
                <a:t> </a:t>
              </a:r>
              <a:r>
                <a:rPr lang="en-US" altLang="zh-TW" sz="2400" b="1" dirty="0">
                  <a:solidFill>
                    <a:srgbClr val="A466D8"/>
                  </a:solidFill>
                  <a:latin typeface="Arial" panose="020B0604020202020204" pitchFamily="34" charset="0"/>
                </a:rPr>
                <a:t>CNN </a:t>
              </a:r>
              <a:r>
                <a:rPr lang="zh-TW" altLang="en-US" sz="2400" b="1" dirty="0">
                  <a:solidFill>
                    <a:srgbClr val="A466D8"/>
                  </a:solidFill>
                  <a:latin typeface="Arial" panose="020B0604020202020204" pitchFamily="34" charset="0"/>
                </a:rPr>
                <a:t>範例導入</a:t>
              </a:r>
              <a:endParaRPr lang="en-US" altLang="zh-TW" sz="2400" b="1" dirty="0">
                <a:solidFill>
                  <a:srgbClr val="A466D8"/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未來將加入更多深度學習範例，其中包含 </a:t>
              </a:r>
              <a:r>
                <a:rPr lang="en-US" altLang="zh-TW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TensorFlow </a:t>
              </a:r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的卷積神經網路（</a:t>
              </a:r>
              <a:r>
                <a:rPr lang="en-US" altLang="zh-TW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CNN</a:t>
              </a:r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）完整示例。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使用者可透過模板快速產生模型架構、訓練流程與資料前處理程式碼，縮短初學者的入門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時間，並提供高階使用者進一步改寫與優化的基礎。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0735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37869" y="37498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TW" alt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未來展望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335ADFB5-35BC-49C9-AAA7-360843779F19}"/>
              </a:ext>
            </a:extLst>
          </p:cNvPr>
          <p:cNvGrpSpPr/>
          <p:nvPr/>
        </p:nvGrpSpPr>
        <p:grpSpPr>
          <a:xfrm>
            <a:off x="784430" y="1559957"/>
            <a:ext cx="10695464" cy="2702631"/>
            <a:chOff x="6338829" y="2452629"/>
            <a:chExt cx="10695464" cy="2702631"/>
          </a:xfrm>
        </p:grpSpPr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479BD92F-1564-45ED-AADB-BE99B79E8543}"/>
                </a:ext>
              </a:extLst>
            </p:cNvPr>
            <p:cNvSpPr/>
            <p:nvPr/>
          </p:nvSpPr>
          <p:spPr>
            <a:xfrm>
              <a:off x="6338829" y="2452629"/>
              <a:ext cx="450000" cy="45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00" dirty="0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BF591B43-4025-4297-9181-D6953CBDC68F}"/>
                </a:ext>
              </a:extLst>
            </p:cNvPr>
            <p:cNvSpPr txBox="1"/>
            <p:nvPr/>
          </p:nvSpPr>
          <p:spPr>
            <a:xfrm>
              <a:off x="6348354" y="2477604"/>
              <a:ext cx="10685939" cy="2677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2400" b="1" dirty="0">
                  <a:solidFill>
                    <a:srgbClr val="A466D8"/>
                  </a:solidFill>
                  <a:latin typeface="Arial" panose="020B0604020202020204" pitchFamily="34" charset="0"/>
                </a:rPr>
                <a:t>Python</a:t>
              </a:r>
              <a:r>
                <a:rPr lang="zh-TW" altLang="en-US" sz="2400" b="1" dirty="0">
                  <a:solidFill>
                    <a:srgbClr val="A466D8"/>
                  </a:solidFill>
                  <a:latin typeface="Arial" panose="020B0604020202020204" pitchFamily="34" charset="0"/>
                </a:rPr>
                <a:t>入門指南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系統可提供互動式 </a:t>
              </a:r>
              <a:r>
                <a:rPr lang="en-US" altLang="zh-TW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Python </a:t>
              </a:r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新手教學模式，包含語法介紹、即時範例、錯誤提示與小練習題。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此功能可降低入門者學習難度，並透過引導式互動提升理解深度，使平台不僅能生成程式，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也能作為學習工具。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TW" altLang="en-US" sz="2400" b="1" dirty="0">
                  <a:solidFill>
                    <a:srgbClr val="A466D8"/>
                  </a:solidFill>
                  <a:latin typeface="Arial" panose="020B0604020202020204" pitchFamily="34" charset="0"/>
                </a:rPr>
                <a:t>學習資安基本概念</a:t>
              </a:r>
              <a:endParaRPr lang="zh-TW" altLang="zh-TW" sz="2400" b="1" dirty="0">
                <a:solidFill>
                  <a:srgbClr val="A466D8"/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未來可加入資安基礎教學，例如常見攻擊手法、程式碼安全性原則、輸入驗證機制與安全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TW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API </a:t>
              </a:r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使用方式。透過將資安邏輯內建於系統中，可讓使用者在撰寫程式時同步建立安全意識</a:t>
              </a:r>
              <a:endPara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  <a:p>
              <a:r>
                <a:rPr lang="zh-TW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，提升整體系統生成程式碼的安全標準。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626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4875153" y="5041900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謝謝觀看</a:t>
            </a:r>
          </a:p>
        </p:txBody>
      </p:sp>
      <p:sp>
        <p:nvSpPr>
          <p:cNvPr id="3" name="橢圓 2"/>
          <p:cNvSpPr/>
          <p:nvPr/>
        </p:nvSpPr>
        <p:spPr>
          <a:xfrm>
            <a:off x="4417953" y="5226050"/>
            <a:ext cx="914400" cy="914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8512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3.7037E-6 L 0.20026 -0.00231 " pathEditMode="relative" rAng="0" ptsTypes="AA">
                                      <p:cBhvr>
                                        <p:cTn id="12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13" y="-11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3" grpId="1" animBg="1"/>
      <p:bldP spid="3" grpId="2" animBg="1"/>
    </p:bldLst>
  </p:timing>
</p:sld>
</file>

<file path=ppt/theme/theme1.xml><?xml version="1.0" encoding="utf-8"?>
<a:theme xmlns:a="http://schemas.openxmlformats.org/drawingml/2006/main" name="Office 佈景主題">
  <a:themeElements>
    <a:clrScheme name="比賽用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03E0D"/>
      </a:accent1>
      <a:accent2>
        <a:srgbClr val="F8B70C"/>
      </a:accent2>
      <a:accent3>
        <a:srgbClr val="32CB58"/>
      </a:accent3>
      <a:accent4>
        <a:srgbClr val="1C9FCB"/>
      </a:accent4>
      <a:accent5>
        <a:srgbClr val="A466D8"/>
      </a:accent5>
      <a:accent6>
        <a:srgbClr val="0070C0"/>
      </a:accent6>
      <a:hlink>
        <a:srgbClr val="0563C1"/>
      </a:hlink>
      <a:folHlink>
        <a:srgbClr val="954F72"/>
      </a:folHlink>
    </a:clrScheme>
    <a:fontScheme name="比賽用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1896</Words>
  <Application>Microsoft Office PowerPoint</Application>
  <PresentationFormat>寬螢幕</PresentationFormat>
  <Paragraphs>169</Paragraphs>
  <Slides>25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2" baseType="lpstr">
      <vt:lpstr>微軟正黑體</vt:lpstr>
      <vt:lpstr>新細明體</vt:lpstr>
      <vt:lpstr>Arial</vt:lpstr>
      <vt:lpstr>Calibri</vt:lpstr>
      <vt:lpstr>Webdings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Windows 使用者</dc:creator>
  <cp:lastModifiedBy>user</cp:lastModifiedBy>
  <cp:revision>201</cp:revision>
  <dcterms:created xsi:type="dcterms:W3CDTF">2022-11-30T00:12:37Z</dcterms:created>
  <dcterms:modified xsi:type="dcterms:W3CDTF">2025-12-02T01:48:00Z</dcterms:modified>
</cp:coreProperties>
</file>